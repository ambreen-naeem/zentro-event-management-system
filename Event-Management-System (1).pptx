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0.svg" ContentType="image/svg+xml"/>
  <Override PartName="/ppt/media/image21.svg" ContentType="image/svg+xml"/>
  <Override PartName="/ppt/media/image28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23"/>
  </p:handoutMasterIdLst>
  <p:sldIdLst>
    <p:sldId id="256" r:id="rId4"/>
    <p:sldId id="267" r:id="rId6"/>
    <p:sldId id="258" r:id="rId7"/>
    <p:sldId id="259" r:id="rId8"/>
    <p:sldId id="260" r:id="rId9"/>
    <p:sldId id="261" r:id="rId10"/>
    <p:sldId id="281" r:id="rId11"/>
    <p:sldId id="262" r:id="rId12"/>
    <p:sldId id="278" r:id="rId13"/>
    <p:sldId id="280" r:id="rId14"/>
    <p:sldId id="274" r:id="rId15"/>
    <p:sldId id="276" r:id="rId16"/>
    <p:sldId id="265" r:id="rId17"/>
    <p:sldId id="268" r:id="rId18"/>
    <p:sldId id="263" r:id="rId19"/>
    <p:sldId id="272" r:id="rId20"/>
    <p:sldId id="277" r:id="rId21"/>
    <p:sldId id="279" r:id="rId22"/>
  </p:sldIdLst>
  <p:sldSz cx="14630400" cy="8229600"/>
  <p:notesSz cx="8229600" cy="14630400"/>
  <p:embeddedFontLst>
    <p:embeddedFont>
      <p:font typeface="Gelasio Semi Bold" pitchFamily="34" charset="0"/>
      <p:regular r:id="rId27"/>
    </p:embeddedFont>
    <p:embeddedFont>
      <p:font typeface="Gelasio Semi Bold" pitchFamily="34" charset="-122"/>
      <p:regular r:id="rId28"/>
    </p:embeddedFont>
    <p:embeddedFont>
      <p:font typeface="Gelasio Semi Bold" pitchFamily="34" charset="-120"/>
      <p:regular r:id="rId29"/>
    </p:embeddedFont>
    <p:embeddedFont>
      <p:font typeface="Gelasio" pitchFamily="34" charset="0"/>
      <p:bold r:id="rId30"/>
    </p:embeddedFont>
    <p:embeddedFont>
      <p:font typeface="Gelasio" pitchFamily="34" charset="-122"/>
      <p:bold r:id="rId31"/>
    </p:embeddedFont>
    <p:embeddedFont>
      <p:font typeface="Gelasio" pitchFamily="34" charset="-120"/>
      <p:bold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C597"/>
    <a:srgbClr val="62A555"/>
    <a:srgbClr val="F9F6F0"/>
    <a:srgbClr val="725E69"/>
    <a:srgbClr val="4D3D45"/>
    <a:srgbClr val="61515A"/>
    <a:srgbClr val="53454D"/>
    <a:srgbClr val="3E2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44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661536" y="0"/>
            <a:ext cx="3566160" cy="734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44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44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661536" y="13896341"/>
            <a:ext cx="3566160" cy="7340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4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image" Target="../media/image3.png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image" Target="../media/image4.png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>
            <p:custDataLst>
              <p:tags r:id="rId2"/>
            </p:custDataLst>
          </p:nvPr>
        </p:nvSpPr>
        <p:spPr>
          <a:xfrm>
            <a:off x="0" y="0"/>
            <a:ext cx="5913120" cy="7062217"/>
          </a:xfrm>
          <a:custGeom>
            <a:avLst/>
            <a:gdLst>
              <a:gd name="connsiteX0" fmla="*/ 0 w 4927600"/>
              <a:gd name="connsiteY0" fmla="*/ 0 h 5885181"/>
              <a:gd name="connsiteX1" fmla="*/ 4213318 w 4927600"/>
              <a:gd name="connsiteY1" fmla="*/ 0 h 5885181"/>
              <a:gd name="connsiteX2" fmla="*/ 4278322 w 4927600"/>
              <a:gd name="connsiteY2" fmla="*/ 85063 h 5885181"/>
              <a:gd name="connsiteX3" fmla="*/ 4927600 w 4927600"/>
              <a:gd name="connsiteY3" fmla="*/ 2165033 h 5885181"/>
              <a:gd name="connsiteX4" fmla="*/ 1125855 w 4927600"/>
              <a:gd name="connsiteY4" fmla="*/ 5885181 h 5885181"/>
              <a:gd name="connsiteX5" fmla="*/ 175740 w 4927600"/>
              <a:gd name="connsiteY5" fmla="*/ 5768061 h 5885181"/>
              <a:gd name="connsiteX6" fmla="*/ 0 w 4927600"/>
              <a:gd name="connsiteY6" fmla="*/ 5719228 h 5885181"/>
              <a:gd name="connsiteX7" fmla="*/ 0 w 4927600"/>
              <a:gd name="connsiteY7" fmla="*/ 3389538 h 5885181"/>
              <a:gd name="connsiteX8" fmla="*/ 37676 w 4927600"/>
              <a:gd name="connsiteY8" fmla="*/ 3422147 h 5885181"/>
              <a:gd name="connsiteX9" fmla="*/ 1125855 w 4927600"/>
              <a:gd name="connsiteY9" fmla="*/ 3794160 h 5885181"/>
              <a:gd name="connsiteX10" fmla="*/ 2836579 w 4927600"/>
              <a:gd name="connsiteY10" fmla="*/ 2165033 h 5885181"/>
              <a:gd name="connsiteX11" fmla="*/ 1125855 w 4927600"/>
              <a:gd name="connsiteY11" fmla="*/ 535906 h 5885181"/>
              <a:gd name="connsiteX12" fmla="*/ 37676 w 4927600"/>
              <a:gd name="connsiteY12" fmla="*/ 907920 h 5885181"/>
              <a:gd name="connsiteX13" fmla="*/ 0 w 4927600"/>
              <a:gd name="connsiteY13" fmla="*/ 940528 h 588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27600" h="5885181">
                <a:moveTo>
                  <a:pt x="0" y="0"/>
                </a:moveTo>
                <a:lnTo>
                  <a:pt x="4213318" y="0"/>
                </a:lnTo>
                <a:lnTo>
                  <a:pt x="4278322" y="85063"/>
                </a:lnTo>
                <a:cubicBezTo>
                  <a:pt x="4688243" y="678802"/>
                  <a:pt x="4927600" y="1394565"/>
                  <a:pt x="4927600" y="2165033"/>
                </a:cubicBezTo>
                <a:cubicBezTo>
                  <a:pt x="4927600" y="4219614"/>
                  <a:pt x="3225501" y="5885181"/>
                  <a:pt x="1125855" y="5885181"/>
                </a:cubicBezTo>
                <a:cubicBezTo>
                  <a:pt x="797785" y="5885181"/>
                  <a:pt x="479421" y="5844518"/>
                  <a:pt x="175740" y="5768061"/>
                </a:cubicBezTo>
                <a:lnTo>
                  <a:pt x="0" y="5719228"/>
                </a:lnTo>
                <a:lnTo>
                  <a:pt x="0" y="3389538"/>
                </a:lnTo>
                <a:lnTo>
                  <a:pt x="37676" y="3422147"/>
                </a:lnTo>
                <a:cubicBezTo>
                  <a:pt x="333390" y="3654551"/>
                  <a:pt x="712502" y="3794160"/>
                  <a:pt x="1125855" y="3794160"/>
                </a:cubicBezTo>
                <a:cubicBezTo>
                  <a:pt x="2070662" y="3794160"/>
                  <a:pt x="2836579" y="3064775"/>
                  <a:pt x="2836579" y="2165033"/>
                </a:cubicBezTo>
                <a:cubicBezTo>
                  <a:pt x="2836579" y="1265291"/>
                  <a:pt x="2070662" y="535906"/>
                  <a:pt x="1125855" y="535906"/>
                </a:cubicBezTo>
                <a:cubicBezTo>
                  <a:pt x="712502" y="535906"/>
                  <a:pt x="333390" y="675515"/>
                  <a:pt x="37676" y="907920"/>
                </a:cubicBezTo>
                <a:lnTo>
                  <a:pt x="0" y="940528"/>
                </a:lnTo>
                <a:close/>
              </a:path>
            </a:pathLst>
          </a:custGeom>
          <a:gradFill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60">
              <a:solidFill>
                <a:schemeClr val="tx1"/>
              </a:solidFill>
            </a:endParaRPr>
          </a:p>
        </p:txBody>
      </p:sp>
      <p:sp>
        <p:nvSpPr>
          <p:cNvPr id="13" name="任意多边形: 形状 12"/>
          <p:cNvSpPr/>
          <p:nvPr>
            <p:custDataLst>
              <p:tags r:id="rId3"/>
            </p:custDataLst>
          </p:nvPr>
        </p:nvSpPr>
        <p:spPr>
          <a:xfrm>
            <a:off x="12359656" y="6302502"/>
            <a:ext cx="2270744" cy="1927098"/>
          </a:xfrm>
          <a:custGeom>
            <a:avLst/>
            <a:gdLst>
              <a:gd name="connsiteX0" fmla="*/ 1660830 w 1892287"/>
              <a:gd name="connsiteY0" fmla="*/ 0 h 1605915"/>
              <a:gd name="connsiteX1" fmla="*/ 1831031 w 1892287"/>
              <a:gd name="connsiteY1" fmla="*/ 8686 h 1605915"/>
              <a:gd name="connsiteX2" fmla="*/ 1892287 w 1892287"/>
              <a:gd name="connsiteY2" fmla="*/ 18135 h 1605915"/>
              <a:gd name="connsiteX3" fmla="*/ 1892287 w 1892287"/>
              <a:gd name="connsiteY3" fmla="*/ 1086869 h 1605915"/>
              <a:gd name="connsiteX4" fmla="*/ 1786696 w 1892287"/>
              <a:gd name="connsiteY4" fmla="*/ 1053159 h 1605915"/>
              <a:gd name="connsiteX5" fmla="*/ 1660829 w 1892287"/>
              <a:gd name="connsiteY5" fmla="*/ 1040109 h 1605915"/>
              <a:gd name="connsiteX6" fmla="*/ 1048973 w 1892287"/>
              <a:gd name="connsiteY6" fmla="*/ 1552982 h 1605915"/>
              <a:gd name="connsiteX7" fmla="*/ 1043785 w 1892287"/>
              <a:gd name="connsiteY7" fmla="*/ 1605915 h 1605915"/>
              <a:gd name="connsiteX8" fmla="*/ 0 w 1892287"/>
              <a:gd name="connsiteY8" fmla="*/ 1605915 h 1605915"/>
              <a:gd name="connsiteX9" fmla="*/ 4771 w 1892287"/>
              <a:gd name="connsiteY9" fmla="*/ 1510414 h 1605915"/>
              <a:gd name="connsiteX10" fmla="*/ 1660830 w 1892287"/>
              <a:gd name="connsiteY10" fmla="*/ 0 h 1605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287" h="1605915">
                <a:moveTo>
                  <a:pt x="1660830" y="0"/>
                </a:moveTo>
                <a:cubicBezTo>
                  <a:pt x="1718290" y="0"/>
                  <a:pt x="1775070" y="2943"/>
                  <a:pt x="1831031" y="8686"/>
                </a:cubicBezTo>
                <a:lnTo>
                  <a:pt x="1892287" y="18135"/>
                </a:lnTo>
                <a:lnTo>
                  <a:pt x="1892287" y="1086869"/>
                </a:lnTo>
                <a:lnTo>
                  <a:pt x="1786696" y="1053159"/>
                </a:lnTo>
                <a:cubicBezTo>
                  <a:pt x="1746040" y="1044603"/>
                  <a:pt x="1703945" y="1040109"/>
                  <a:pt x="1660829" y="1040109"/>
                </a:cubicBezTo>
                <a:cubicBezTo>
                  <a:pt x="1359019" y="1040109"/>
                  <a:pt x="1107210" y="1260286"/>
                  <a:pt x="1048973" y="1552982"/>
                </a:cubicBezTo>
                <a:lnTo>
                  <a:pt x="1043785" y="1605915"/>
                </a:lnTo>
                <a:lnTo>
                  <a:pt x="0" y="1605915"/>
                </a:lnTo>
                <a:lnTo>
                  <a:pt x="4771" y="1510414"/>
                </a:lnTo>
                <a:cubicBezTo>
                  <a:pt x="90018" y="662037"/>
                  <a:pt x="798928" y="0"/>
                  <a:pt x="1660830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8000"/>
                </a:schemeClr>
              </a:gs>
              <a:gs pos="100000">
                <a:schemeClr val="bg1">
                  <a:alpha val="1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160">
              <a:solidFill>
                <a:schemeClr val="tx1"/>
              </a:solidFill>
              <a:sym typeface="+mn-lt"/>
            </a:endParaRPr>
          </a:p>
        </p:txBody>
      </p:sp>
      <p:pic>
        <p:nvPicPr>
          <p:cNvPr id="10" name="图片 9" descr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15969" r="47646"/>
          <a:stretch>
            <a:fillRect/>
          </a:stretch>
        </p:blipFill>
        <p:spPr>
          <a:xfrm>
            <a:off x="0" y="2084070"/>
            <a:ext cx="7659624" cy="6147054"/>
          </a:xfrm>
          <a:prstGeom prst="rect">
            <a:avLst/>
          </a:prstGeom>
        </p:spPr>
      </p:pic>
      <p:sp>
        <p:nvSpPr>
          <p:cNvPr id="9" name="标题"/>
          <p:cNvSpPr txBox="1">
            <a:spLocks noGrp="1"/>
          </p:cNvSpPr>
          <p:nvPr>
            <p:ph type="title" idx="6" hasCustomPrompt="1"/>
            <p:custDataLst>
              <p:tags r:id="rId6"/>
            </p:custDataLst>
          </p:nvPr>
        </p:nvSpPr>
        <p:spPr>
          <a:xfrm>
            <a:off x="6825996" y="599694"/>
            <a:ext cx="6959346" cy="3925062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8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7"/>
            </p:custDataLst>
          </p:nvPr>
        </p:nvCxnSpPr>
        <p:spPr>
          <a:xfrm>
            <a:off x="998982" y="721614"/>
            <a:ext cx="139446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8"/>
            </p:custDataLst>
          </p:nvPr>
        </p:nvCxnSpPr>
        <p:spPr>
          <a:xfrm>
            <a:off x="998982" y="791718"/>
            <a:ext cx="139446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9"/>
            </p:custDataLst>
          </p:nvPr>
        </p:nvCxnSpPr>
        <p:spPr>
          <a:xfrm>
            <a:off x="998982" y="861822"/>
            <a:ext cx="139446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7315200" y="4524756"/>
            <a:ext cx="6470142" cy="769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16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6" name="署名占位符 10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11115582" y="5417974"/>
            <a:ext cx="2669760" cy="6486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wrap="square" lIns="0" rIns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920" u="none" strike="noStrike" kern="1200" cap="none" spc="0" normalizeH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2"/>
            </p:custDataLst>
          </p:nvPr>
        </p:nvSpPr>
        <p:spPr>
          <a:xfrm>
            <a:off x="730080" y="1788480"/>
            <a:ext cx="13163040" cy="57110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74320" marR="0" lvl="0" indent="-274320" algn="l" defTabSz="914400" rtl="0" eaLnBrk="1" fontAlgn="auto" latinLnBrk="0" hangingPunct="1">
              <a:lnSpc>
                <a:spcPct val="13000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216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822960" marR="0" lvl="1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371600" marR="0" lvl="2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920240" marR="0" lvl="3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468880" marR="0" lvl="4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6pPr>
            <a:lvl7pPr marL="356616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7pPr>
            <a:lvl8pPr marL="411480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8pPr>
            <a:lvl9pPr marL="466344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730080" y="730080"/>
            <a:ext cx="13163040" cy="84672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32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VCG41N138528749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6000"/>
          </a:blip>
          <a:srcRect l="-39" t="20988" r="59024" b="21427"/>
          <a:stretch>
            <a:fillRect/>
          </a:stretch>
        </p:blipFill>
        <p:spPr>
          <a:xfrm flipH="1">
            <a:off x="7776407" y="-7620"/>
            <a:ext cx="6853993" cy="481136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957072" y="1328928"/>
            <a:ext cx="5082540" cy="971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en-US">
                <a:latin typeface="+mj-lt"/>
              </a:defRPr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280" b="0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3"/>
          <p:cNvSpPr/>
          <p:nvPr>
            <p:custDataLst>
              <p:tags r:id="rId2"/>
            </p:custDataLst>
          </p:nvPr>
        </p:nvSpPr>
        <p:spPr>
          <a:xfrm flipH="1">
            <a:off x="8336281" y="0"/>
            <a:ext cx="6294121" cy="6252973"/>
          </a:xfrm>
          <a:custGeom>
            <a:avLst/>
            <a:gdLst>
              <a:gd name="connsiteX0" fmla="*/ 754709 w 5245101"/>
              <a:gd name="connsiteY0" fmla="*/ 0 h 5210811"/>
              <a:gd name="connsiteX1" fmla="*/ 0 w 5245101"/>
              <a:gd name="connsiteY1" fmla="*/ 0 h 5210811"/>
              <a:gd name="connsiteX2" fmla="*/ 0 w 5245101"/>
              <a:gd name="connsiteY2" fmla="*/ 618673 h 5210811"/>
              <a:gd name="connsiteX3" fmla="*/ 24797 w 5245101"/>
              <a:gd name="connsiteY3" fmla="*/ 579803 h 5210811"/>
              <a:gd name="connsiteX4" fmla="*/ 627923 w 5245101"/>
              <a:gd name="connsiteY4" fmla="*/ 58163 h 5210811"/>
              <a:gd name="connsiteX5" fmla="*/ 4926654 w 5245101"/>
              <a:gd name="connsiteY5" fmla="*/ 0 h 5210811"/>
              <a:gd name="connsiteX6" fmla="*/ 2132003 w 5245101"/>
              <a:gd name="connsiteY6" fmla="*/ 0 h 5210811"/>
              <a:gd name="connsiteX7" fmla="*/ 2258789 w 5245101"/>
              <a:gd name="connsiteY7" fmla="*/ 58163 h 5210811"/>
              <a:gd name="connsiteX8" fmla="*/ 3154080 w 5245101"/>
              <a:gd name="connsiteY8" fmla="*/ 1490663 h 5210811"/>
              <a:gd name="connsiteX9" fmla="*/ 1443356 w 5245101"/>
              <a:gd name="connsiteY9" fmla="*/ 3119790 h 5210811"/>
              <a:gd name="connsiteX10" fmla="*/ 24797 w 5245101"/>
              <a:gd name="connsiteY10" fmla="*/ 2401523 h 5210811"/>
              <a:gd name="connsiteX11" fmla="*/ 0 w 5245101"/>
              <a:gd name="connsiteY11" fmla="*/ 2362654 h 5210811"/>
              <a:gd name="connsiteX12" fmla="*/ 0 w 5245101"/>
              <a:gd name="connsiteY12" fmla="*/ 4932529 h 5210811"/>
              <a:gd name="connsiteX13" fmla="*/ 136188 w 5245101"/>
              <a:gd name="connsiteY13" fmla="*/ 4985074 h 5210811"/>
              <a:gd name="connsiteX14" fmla="*/ 1443356 w 5245101"/>
              <a:gd name="connsiteY14" fmla="*/ 5210811 h 5210811"/>
              <a:gd name="connsiteX15" fmla="*/ 5245101 w 5245101"/>
              <a:gd name="connsiteY15" fmla="*/ 1490663 h 5210811"/>
              <a:gd name="connsiteX16" fmla="*/ 4946341 w 5245101"/>
              <a:gd name="connsiteY16" fmla="*/ 42614 h 5210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45101" h="5210811">
                <a:moveTo>
                  <a:pt x="754709" y="0"/>
                </a:moveTo>
                <a:lnTo>
                  <a:pt x="0" y="0"/>
                </a:lnTo>
                <a:lnTo>
                  <a:pt x="0" y="618673"/>
                </a:lnTo>
                <a:lnTo>
                  <a:pt x="24797" y="579803"/>
                </a:lnTo>
                <a:cubicBezTo>
                  <a:pt x="178511" y="363127"/>
                  <a:pt x="385525" y="183561"/>
                  <a:pt x="627923" y="58163"/>
                </a:cubicBezTo>
                <a:close/>
                <a:moveTo>
                  <a:pt x="4926654" y="0"/>
                </a:moveTo>
                <a:lnTo>
                  <a:pt x="2132003" y="0"/>
                </a:lnTo>
                <a:lnTo>
                  <a:pt x="2258789" y="58163"/>
                </a:lnTo>
                <a:cubicBezTo>
                  <a:pt x="2792064" y="334038"/>
                  <a:pt x="3154080" y="872091"/>
                  <a:pt x="3154080" y="1490663"/>
                </a:cubicBezTo>
                <a:cubicBezTo>
                  <a:pt x="3154080" y="2390405"/>
                  <a:pt x="2388163" y="3119790"/>
                  <a:pt x="1443356" y="3119790"/>
                </a:cubicBezTo>
                <a:cubicBezTo>
                  <a:pt x="852852" y="3119790"/>
                  <a:pt x="332226" y="2834874"/>
                  <a:pt x="24797" y="2401523"/>
                </a:cubicBezTo>
                <a:lnTo>
                  <a:pt x="0" y="2362654"/>
                </a:lnTo>
                <a:lnTo>
                  <a:pt x="0" y="4932529"/>
                </a:lnTo>
                <a:lnTo>
                  <a:pt x="136188" y="4985074"/>
                </a:lnTo>
                <a:cubicBezTo>
                  <a:pt x="543784" y="5131111"/>
                  <a:pt x="984058" y="5210811"/>
                  <a:pt x="1443356" y="5210811"/>
                </a:cubicBezTo>
                <a:cubicBezTo>
                  <a:pt x="3543002" y="5210811"/>
                  <a:pt x="5245101" y="3545244"/>
                  <a:pt x="5245101" y="1490663"/>
                </a:cubicBezTo>
                <a:cubicBezTo>
                  <a:pt x="5245101" y="977018"/>
                  <a:pt x="5138720" y="487686"/>
                  <a:pt x="4946341" y="42614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6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任意多边形: 形状 9"/>
          <p:cNvSpPr/>
          <p:nvPr>
            <p:custDataLst>
              <p:tags r:id="rId3"/>
            </p:custDataLst>
          </p:nvPr>
        </p:nvSpPr>
        <p:spPr>
          <a:xfrm flipH="1">
            <a:off x="0" y="6206490"/>
            <a:ext cx="2154936" cy="2023102"/>
          </a:xfrm>
          <a:custGeom>
            <a:avLst/>
            <a:gdLst>
              <a:gd name="connsiteX0" fmla="*/ 1664653 w 1795780"/>
              <a:gd name="connsiteY0" fmla="*/ 0 h 1685918"/>
              <a:gd name="connsiteX1" fmla="*/ 0 w 1795780"/>
              <a:gd name="connsiteY1" fmla="*/ 1682433 h 1685918"/>
              <a:gd name="connsiteX2" fmla="*/ 174 w 1795780"/>
              <a:gd name="connsiteY2" fmla="*/ 1685918 h 1685918"/>
              <a:gd name="connsiteX3" fmla="*/ 1040450 w 1795780"/>
              <a:gd name="connsiteY3" fmla="*/ 1685918 h 1685918"/>
              <a:gd name="connsiteX4" fmla="*/ 1040108 w 1795780"/>
              <a:gd name="connsiteY4" fmla="*/ 1682433 h 1685918"/>
              <a:gd name="connsiteX5" fmla="*/ 1664652 w 1795780"/>
              <a:gd name="connsiteY5" fmla="*/ 1040109 h 1685918"/>
              <a:gd name="connsiteX6" fmla="*/ 1790519 w 1795780"/>
              <a:gd name="connsiteY6" fmla="*/ 1053159 h 1685918"/>
              <a:gd name="connsiteX7" fmla="*/ 1795780 w 1795780"/>
              <a:gd name="connsiteY7" fmla="*/ 1054838 h 1685918"/>
              <a:gd name="connsiteX8" fmla="*/ 1795780 w 1795780"/>
              <a:gd name="connsiteY8" fmla="*/ 6692 h 168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5780" h="1685918">
                <a:moveTo>
                  <a:pt x="1664653" y="0"/>
                </a:moveTo>
                <a:cubicBezTo>
                  <a:pt x="745291" y="0"/>
                  <a:pt x="0" y="753251"/>
                  <a:pt x="0" y="1682433"/>
                </a:cubicBezTo>
                <a:lnTo>
                  <a:pt x="174" y="1685918"/>
                </a:lnTo>
                <a:lnTo>
                  <a:pt x="1040450" y="1685918"/>
                </a:lnTo>
                <a:lnTo>
                  <a:pt x="1040108" y="1682433"/>
                </a:lnTo>
                <a:cubicBezTo>
                  <a:pt x="1040108" y="1327687"/>
                  <a:pt x="1319726" y="1040109"/>
                  <a:pt x="1664652" y="1040109"/>
                </a:cubicBezTo>
                <a:cubicBezTo>
                  <a:pt x="1707768" y="1040109"/>
                  <a:pt x="1749863" y="1044603"/>
                  <a:pt x="1790519" y="1053159"/>
                </a:cubicBezTo>
                <a:lnTo>
                  <a:pt x="1795780" y="1054838"/>
                </a:lnTo>
                <a:lnTo>
                  <a:pt x="1795780" y="6692"/>
                </a:lnTo>
                <a:close/>
              </a:path>
            </a:pathLst>
          </a:custGeom>
          <a:gradFill>
            <a:gsLst>
              <a:gs pos="0">
                <a:schemeClr val="bg1">
                  <a:alpha val="28000"/>
                </a:schemeClr>
              </a:gs>
              <a:gs pos="100000">
                <a:schemeClr val="bg1">
                  <a:alpha val="1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2160">
              <a:solidFill>
                <a:schemeClr val="tx1"/>
              </a:solidFill>
              <a:latin typeface="+mj-lt"/>
              <a:sym typeface="+mn-lt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977646" y="721614"/>
            <a:ext cx="160782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5"/>
            </p:custDataLst>
          </p:nvPr>
        </p:nvCxnSpPr>
        <p:spPr>
          <a:xfrm>
            <a:off x="977646" y="791718"/>
            <a:ext cx="160782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6"/>
            </p:custDataLst>
          </p:nvPr>
        </p:nvCxnSpPr>
        <p:spPr>
          <a:xfrm>
            <a:off x="977646" y="861822"/>
            <a:ext cx="160782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 txBox="1">
            <a:spLocks noGrp="1"/>
          </p:cNvSpPr>
          <p:nvPr>
            <p:ph type="body" idx="4" hasCustomPrompt="1"/>
            <p:custDataLst>
              <p:tags r:id="rId7"/>
            </p:custDataLst>
          </p:nvPr>
        </p:nvSpPr>
        <p:spPr>
          <a:xfrm>
            <a:off x="1383030" y="2157984"/>
            <a:ext cx="5945886" cy="141732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792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</a:pPr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 6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1383030" y="3581400"/>
            <a:ext cx="6581394" cy="205816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8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3" name="圆角矩形 32"/>
          <p:cNvSpPr/>
          <p:nvPr>
            <p:custDataLst>
              <p:tags r:id="rId9"/>
            </p:custDataLst>
          </p:nvPr>
        </p:nvSpPr>
        <p:spPr>
          <a:xfrm>
            <a:off x="1626108" y="5785866"/>
            <a:ext cx="687324" cy="43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2160" dirty="0">
              <a:latin typeface="+mj-lt"/>
            </a:endParaRPr>
          </a:p>
        </p:txBody>
      </p:sp>
      <p:pic>
        <p:nvPicPr>
          <p:cNvPr id="8" name="图片 7" descr="图片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785354" y="1568958"/>
            <a:ext cx="6861810" cy="481355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7680966" y="1788428"/>
            <a:ext cx="6212160" cy="571108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74320" marR="0" lvl="0" indent="-2743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216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822960" marR="0" lvl="1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371600" marR="0" lvl="2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920240" marR="0" lvl="3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468880" marR="0" lvl="4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6pPr>
            <a:lvl7pPr marL="356616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7pPr>
            <a:lvl8pPr marL="411480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8pPr>
            <a:lvl9pPr marL="466344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730080" y="1788428"/>
            <a:ext cx="6212160" cy="571108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74320" marR="0" lvl="0" indent="-2743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216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822960" marR="0" lvl="1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371600" marR="0" lvl="2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920240" marR="0" lvl="3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468880" marR="0" lvl="4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6pPr>
            <a:lvl7pPr marL="356616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7pPr>
            <a:lvl8pPr marL="411480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8pPr>
            <a:lvl9pPr marL="466344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730080" y="730080"/>
            <a:ext cx="13163040" cy="84672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32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730080" y="730080"/>
            <a:ext cx="13163040" cy="84672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32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7482240" y="2224800"/>
            <a:ext cx="6410880" cy="527472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74320" marR="0" lvl="0" indent="-2743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216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822960" marR="0" lvl="1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371600" marR="0" lvl="2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920240" marR="0" lvl="3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468880" marR="0" lvl="4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6pPr>
            <a:lvl7pPr marL="356616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7pPr>
            <a:lvl8pPr marL="411480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8pPr>
            <a:lvl9pPr marL="466344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7482240" y="1715040"/>
            <a:ext cx="6410880" cy="48013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730080" y="2224800"/>
            <a:ext cx="6410880" cy="527472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74320" marR="0" lvl="0" indent="-2743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216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822960" marR="0" lvl="1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371600" marR="0" lvl="2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920240" marR="0" lvl="3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468880" marR="0" lvl="4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6pPr>
            <a:lvl7pPr marL="356616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7pPr>
            <a:lvl8pPr marL="411480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8pPr>
            <a:lvl9pPr marL="466344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730080" y="1715040"/>
            <a:ext cx="6410880" cy="48013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730080" y="730080"/>
            <a:ext cx="13163040" cy="84672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32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8"/>
          <p:cNvSpPr/>
          <p:nvPr>
            <p:custDataLst>
              <p:tags r:id="rId2"/>
            </p:custDataLst>
          </p:nvPr>
        </p:nvSpPr>
        <p:spPr>
          <a:xfrm>
            <a:off x="478918" y="421386"/>
            <a:ext cx="13672566" cy="7386828"/>
          </a:xfrm>
          <a:prstGeom prst="roundRect">
            <a:avLst>
              <a:gd name="adj" fmla="val 3654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60" dirty="0"/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835152" y="432054"/>
            <a:ext cx="12962382" cy="6981444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74320" marR="0" lvl="0" indent="-2743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216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822960" marR="0" lvl="1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371600" marR="0" lvl="2" indent="-27432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92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920240" marR="0" lvl="3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468880" marR="0" lvl="4" indent="-27432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68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</a:lvl6pPr>
            <a:lvl7pPr marL="356616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7pPr>
            <a:lvl8pPr marL="411480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8pPr>
            <a:lvl9pPr marL="4663440" indent="-27432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730080" y="730080"/>
            <a:ext cx="13163040" cy="84672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32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5152" y="1562100"/>
            <a:ext cx="12958906" cy="48666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4"/>
          <p:cNvSpPr/>
          <p:nvPr>
            <p:custDataLst>
              <p:tags r:id="rId2"/>
            </p:custDataLst>
          </p:nvPr>
        </p:nvSpPr>
        <p:spPr>
          <a:xfrm>
            <a:off x="0" y="-59716"/>
            <a:ext cx="5913120" cy="7062217"/>
          </a:xfrm>
          <a:custGeom>
            <a:avLst/>
            <a:gdLst>
              <a:gd name="connsiteX0" fmla="*/ 0 w 4927600"/>
              <a:gd name="connsiteY0" fmla="*/ 0 h 5885181"/>
              <a:gd name="connsiteX1" fmla="*/ 4213318 w 4927600"/>
              <a:gd name="connsiteY1" fmla="*/ 0 h 5885181"/>
              <a:gd name="connsiteX2" fmla="*/ 4278322 w 4927600"/>
              <a:gd name="connsiteY2" fmla="*/ 85063 h 5885181"/>
              <a:gd name="connsiteX3" fmla="*/ 4927600 w 4927600"/>
              <a:gd name="connsiteY3" fmla="*/ 2165033 h 5885181"/>
              <a:gd name="connsiteX4" fmla="*/ 1125855 w 4927600"/>
              <a:gd name="connsiteY4" fmla="*/ 5885181 h 5885181"/>
              <a:gd name="connsiteX5" fmla="*/ 175740 w 4927600"/>
              <a:gd name="connsiteY5" fmla="*/ 5768061 h 5885181"/>
              <a:gd name="connsiteX6" fmla="*/ 0 w 4927600"/>
              <a:gd name="connsiteY6" fmla="*/ 5719228 h 5885181"/>
              <a:gd name="connsiteX7" fmla="*/ 0 w 4927600"/>
              <a:gd name="connsiteY7" fmla="*/ 3565018 h 5885181"/>
              <a:gd name="connsiteX8" fmla="*/ 91957 w 4927600"/>
              <a:gd name="connsiteY8" fmla="*/ 3630748 h 5885181"/>
              <a:gd name="connsiteX9" fmla="*/ 1125855 w 4927600"/>
              <a:gd name="connsiteY9" fmla="*/ 3932624 h 5885181"/>
              <a:gd name="connsiteX10" fmla="*/ 2975043 w 4927600"/>
              <a:gd name="connsiteY10" fmla="*/ 2165033 h 5885181"/>
              <a:gd name="connsiteX11" fmla="*/ 1125855 w 4927600"/>
              <a:gd name="connsiteY11" fmla="*/ 397442 h 5885181"/>
              <a:gd name="connsiteX12" fmla="*/ 91957 w 4927600"/>
              <a:gd name="connsiteY12" fmla="*/ 699319 h 5885181"/>
              <a:gd name="connsiteX13" fmla="*/ 0 w 4927600"/>
              <a:gd name="connsiteY13" fmla="*/ 765048 h 588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27600" h="5885181">
                <a:moveTo>
                  <a:pt x="0" y="0"/>
                </a:moveTo>
                <a:lnTo>
                  <a:pt x="4213318" y="0"/>
                </a:lnTo>
                <a:lnTo>
                  <a:pt x="4278322" y="85063"/>
                </a:lnTo>
                <a:cubicBezTo>
                  <a:pt x="4688243" y="678802"/>
                  <a:pt x="4927600" y="1394565"/>
                  <a:pt x="4927600" y="2165033"/>
                </a:cubicBezTo>
                <a:cubicBezTo>
                  <a:pt x="4927600" y="4219614"/>
                  <a:pt x="3225501" y="5885181"/>
                  <a:pt x="1125855" y="5885181"/>
                </a:cubicBezTo>
                <a:cubicBezTo>
                  <a:pt x="797785" y="5885181"/>
                  <a:pt x="479422" y="5844518"/>
                  <a:pt x="175740" y="5768061"/>
                </a:cubicBezTo>
                <a:lnTo>
                  <a:pt x="0" y="5719228"/>
                </a:lnTo>
                <a:lnTo>
                  <a:pt x="0" y="3565018"/>
                </a:lnTo>
                <a:lnTo>
                  <a:pt x="91957" y="3630748"/>
                </a:lnTo>
                <a:cubicBezTo>
                  <a:pt x="387089" y="3821337"/>
                  <a:pt x="742876" y="3932624"/>
                  <a:pt x="1125855" y="3932624"/>
                </a:cubicBezTo>
                <a:cubicBezTo>
                  <a:pt x="2147133" y="3932624"/>
                  <a:pt x="2975043" y="3141247"/>
                  <a:pt x="2975043" y="2165033"/>
                </a:cubicBezTo>
                <a:cubicBezTo>
                  <a:pt x="2975043" y="1188819"/>
                  <a:pt x="2147133" y="397442"/>
                  <a:pt x="1125855" y="397442"/>
                </a:cubicBezTo>
                <a:cubicBezTo>
                  <a:pt x="742876" y="397442"/>
                  <a:pt x="387089" y="508729"/>
                  <a:pt x="91957" y="699319"/>
                </a:cubicBezTo>
                <a:lnTo>
                  <a:pt x="0" y="765048"/>
                </a:lnTo>
                <a:close/>
              </a:path>
            </a:pathLst>
          </a:custGeom>
          <a:gradFill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6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6" hasCustomPrompt="1"/>
            <p:custDataLst>
              <p:tags r:id="rId3"/>
            </p:custDataLst>
          </p:nvPr>
        </p:nvSpPr>
        <p:spPr>
          <a:xfrm>
            <a:off x="1072896" y="2045208"/>
            <a:ext cx="6470142" cy="26746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12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977646" y="721614"/>
            <a:ext cx="160782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5"/>
            </p:custDataLst>
          </p:nvPr>
        </p:nvCxnSpPr>
        <p:spPr>
          <a:xfrm>
            <a:off x="977646" y="791718"/>
            <a:ext cx="160782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6"/>
            </p:custDataLst>
          </p:nvPr>
        </p:nvCxnSpPr>
        <p:spPr>
          <a:xfrm>
            <a:off x="977646" y="861822"/>
            <a:ext cx="160782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VCG41N138528749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3792" r="46938"/>
          <a:stretch>
            <a:fillRect/>
          </a:stretch>
        </p:blipFill>
        <p:spPr>
          <a:xfrm>
            <a:off x="6742176" y="1923288"/>
            <a:ext cx="7763256" cy="6306312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734400" y="7577280"/>
            <a:ext cx="3240000" cy="38016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939200" y="7577280"/>
            <a:ext cx="4752000" cy="3801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10653120" y="7577280"/>
            <a:ext cx="3240000" cy="38016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3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058036" y="4815805"/>
            <a:ext cx="2669760" cy="6220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wrap="square" lIns="0" rIns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920" u="none" strike="noStrike" kern="1200" cap="none" spc="0" normalizeH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 userDrawn="1">
            <p:custDataLst>
              <p:tags r:id="rId12"/>
            </p:custDataLst>
          </p:nvPr>
        </p:nvSpPr>
        <p:spPr>
          <a:xfrm>
            <a:off x="478918" y="421386"/>
            <a:ext cx="13672566" cy="1155414"/>
          </a:xfrm>
          <a:prstGeom prst="roundRect">
            <a:avLst>
              <a:gd name="adj" fmla="val 23742"/>
            </a:avLst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60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5152" y="7627620"/>
            <a:ext cx="3291840" cy="43815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846320" y="7627620"/>
            <a:ext cx="4937760" cy="43815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10504780" y="7627620"/>
            <a:ext cx="3291840" cy="43815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835152" y="1562099"/>
            <a:ext cx="12960000" cy="584835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835152" y="432000"/>
            <a:ext cx="12960000" cy="86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16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109728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84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</a:defRPr>
      </a:lvl1pPr>
    </p:titleStyle>
    <p:bodyStyle>
      <a:lvl1pPr marL="274320" indent="-274320" algn="l" defTabSz="109728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216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</a:defRPr>
      </a:lvl1pPr>
      <a:lvl2pPr marL="822960" indent="-274320" algn="l" defTabSz="109728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931670" algn="l"/>
          <a:tab pos="1931670" algn="l"/>
          <a:tab pos="1931670" algn="l"/>
          <a:tab pos="1931670" algn="l"/>
        </a:tabLst>
        <a:defRPr kumimoji="0" lang="en-US" sz="192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2pPr>
      <a:lvl3pPr marL="1371600" indent="-274320" algn="l" defTabSz="109728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92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3pPr>
      <a:lvl4pPr marL="1920240" indent="-274320" algn="l" defTabSz="109728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68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4pPr>
      <a:lvl5pPr marL="2468880" indent="-274320" algn="l" defTabSz="109728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68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jpe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4.xml"/><Relationship Id="rId13" Type="http://schemas.openxmlformats.org/officeDocument/2006/relationships/image" Target="../media/image7.jpeg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tags" Target="../tags/tag101.xml"/><Relationship Id="rId4" Type="http://schemas.openxmlformats.org/officeDocument/2006/relationships/image" Target="../media/image8.png"/><Relationship Id="rId3" Type="http://schemas.openxmlformats.org/officeDocument/2006/relationships/tags" Target="../tags/tag100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5.xml"/><Relationship Id="rId26" Type="http://schemas.openxmlformats.org/officeDocument/2006/relationships/image" Target="../media/image16.svg"/><Relationship Id="rId25" Type="http://schemas.openxmlformats.org/officeDocument/2006/relationships/tags" Target="../tags/tag114.xml"/><Relationship Id="rId24" Type="http://schemas.openxmlformats.org/officeDocument/2006/relationships/image" Target="../media/image15.png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9.xml"/><Relationship Id="rId19" Type="http://schemas.openxmlformats.org/officeDocument/2006/relationships/image" Target="../media/image14.svg"/><Relationship Id="rId18" Type="http://schemas.openxmlformats.org/officeDocument/2006/relationships/tags" Target="../tags/tag109.xml"/><Relationship Id="rId17" Type="http://schemas.openxmlformats.org/officeDocument/2006/relationships/image" Target="../media/image13.png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image" Target="../media/image12.svg"/><Relationship Id="rId12" Type="http://schemas.openxmlformats.org/officeDocument/2006/relationships/tags" Target="../tags/tag105.xml"/><Relationship Id="rId11" Type="http://schemas.openxmlformats.org/officeDocument/2006/relationships/image" Target="../media/image11.png"/><Relationship Id="rId10" Type="http://schemas.openxmlformats.org/officeDocument/2006/relationships/tags" Target="../tags/tag104.xml"/><Relationship Id="rId1" Type="http://schemas.openxmlformats.org/officeDocument/2006/relationships/tags" Target="../tags/tag9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image" Target="../media/image18.png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6.xml"/><Relationship Id="rId26" Type="http://schemas.openxmlformats.org/officeDocument/2006/relationships/image" Target="../media/image22.png"/><Relationship Id="rId25" Type="http://schemas.openxmlformats.org/officeDocument/2006/relationships/tags" Target="../tags/tag133.xml"/><Relationship Id="rId24" Type="http://schemas.openxmlformats.org/officeDocument/2006/relationships/tags" Target="../tags/tag132.xml"/><Relationship Id="rId23" Type="http://schemas.openxmlformats.org/officeDocument/2006/relationships/image" Target="../media/image21.svg"/><Relationship Id="rId22" Type="http://schemas.openxmlformats.org/officeDocument/2006/relationships/tags" Target="../tags/tag131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image" Target="../media/image17.png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image" Target="../media/image20.svg"/><Relationship Id="rId16" Type="http://schemas.openxmlformats.org/officeDocument/2006/relationships/image" Target="../media/image9.png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image" Target="../media/image19.png"/><Relationship Id="rId1" Type="http://schemas.openxmlformats.org/officeDocument/2006/relationships/tags" Target="../tags/tag11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8.webp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9.xml"/><Relationship Id="rId13" Type="http://schemas.openxmlformats.org/officeDocument/2006/relationships/image" Target="../media/image29.png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tags" Target="../tags/tag1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9.xml"/><Relationship Id="rId12" Type="http://schemas.openxmlformats.org/officeDocument/2006/relationships/image" Target="../media/image33.png"/><Relationship Id="rId11" Type="http://schemas.openxmlformats.org/officeDocument/2006/relationships/tags" Target="../tags/tag155.xml"/><Relationship Id="rId10" Type="http://schemas.openxmlformats.org/officeDocument/2006/relationships/image" Target="../media/image32.png"/><Relationship Id="rId1" Type="http://schemas.openxmlformats.org/officeDocument/2006/relationships/tags" Target="../tags/tag1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46580" y="1129665"/>
            <a:ext cx="10998835" cy="11696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7200" b="1" dirty="0">
                <a:solidFill>
                  <a:srgbClr val="61515A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Event Management System</a:t>
            </a:r>
            <a:endParaRPr lang="en-US" sz="7200" b="1" dirty="0">
              <a:solidFill>
                <a:srgbClr val="61515A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188200" y="3413125"/>
            <a:ext cx="6979285" cy="27127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Presented by:</a:t>
            </a:r>
            <a:endParaRPr lang="en-US" sz="40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36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lvl="1" indent="457200" algn="just">
              <a:lnSpc>
                <a:spcPct val="100000"/>
              </a:lnSpc>
              <a:buNone/>
            </a:pPr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Ambreen Naeem 		</a:t>
            </a: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lvl="1" indent="457200" algn="just">
              <a:lnSpc>
                <a:spcPct val="100000"/>
              </a:lnSpc>
              <a:buNone/>
            </a:pPr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Sameea Majeed 		</a:t>
            </a: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lvl="1" indent="457200" algn="just">
              <a:lnSpc>
                <a:spcPct val="100000"/>
              </a:lnSpc>
              <a:buNone/>
            </a:pPr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Sadaf Fatima 			</a:t>
            </a: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lvl="1" indent="457200" algn="l">
              <a:lnSpc>
                <a:spcPct val="100000"/>
              </a:lnSpc>
              <a:buNone/>
            </a:pP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5" name="Picture 14" descr="C:/Users/pc/Desktop/6418595fed39c408762d5f92.jpg6418595fed39c408762d5f92"/>
          <p:cNvPicPr/>
          <p:nvPr/>
        </p:nvPicPr>
        <p:blipFill>
          <a:blip r:embed="rId1"/>
          <a:srcRect l="7232" r="7232"/>
          <a:stretch>
            <a:fillRect/>
          </a:stretch>
        </p:blipFill>
        <p:spPr>
          <a:xfrm>
            <a:off x="759460" y="2620010"/>
            <a:ext cx="6035040" cy="470598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0" y="-635"/>
            <a:ext cx="238125" cy="8230870"/>
          </a:xfrm>
          <a:prstGeom prst="rect">
            <a:avLst/>
          </a:prstGeom>
          <a:solidFill>
            <a:srgbClr val="4D3D4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 flipH="1" flipV="1">
            <a:off x="12884785" y="-38100"/>
            <a:ext cx="1745615" cy="1647825"/>
          </a:xfrm>
          <a:prstGeom prst="rtTriangle">
            <a:avLst/>
          </a:prstGeom>
          <a:solidFill>
            <a:srgbClr val="4D3D4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9770" y="736600"/>
            <a:ext cx="13054330" cy="7727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Introduction:</a:t>
            </a:r>
            <a:endParaRPr lang="en-US" sz="5400" dirty="0">
              <a:solidFill>
                <a:srgbClr val="484237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02005" y="1914525"/>
            <a:ext cx="12980670" cy="1699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rgbClr val="61515A"/>
                </a:solidFill>
                <a:latin typeface="Gelasio" pitchFamily="34" charset="0"/>
                <a:cs typeface="Gelasio" pitchFamily="34" charset="0"/>
              </a:rPr>
              <a:t>Event management involves planning, organizing, and executing events.</a:t>
            </a:r>
            <a:endParaRPr lang="en-US" altLang="en-US" sz="2800" b="1" dirty="0">
              <a:solidFill>
                <a:srgbClr val="61515A"/>
              </a:solidFill>
              <a:latin typeface="Gelasio" pitchFamily="34" charset="0"/>
              <a:cs typeface="Gelasio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rgbClr val="61515A"/>
                </a:solidFill>
                <a:latin typeface="Gelasio" pitchFamily="34" charset="0"/>
                <a:cs typeface="Gelasio" pitchFamily="34" charset="0"/>
              </a:rPr>
              <a:t>Manual event handling is inefficient </a:t>
            </a:r>
            <a:endParaRPr lang="en-US" altLang="en-US" sz="2800" b="1" dirty="0">
              <a:solidFill>
                <a:srgbClr val="61515A"/>
              </a:solidFill>
              <a:latin typeface="Gelasio" pitchFamily="34" charset="0"/>
              <a:cs typeface="Gelasio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rgbClr val="61515A"/>
                </a:solidFill>
                <a:latin typeface="Gelasio" pitchFamily="34" charset="0"/>
                <a:cs typeface="Gelasio" pitchFamily="34" charset="0"/>
              </a:rPr>
              <a:t>and error-prone.</a:t>
            </a:r>
            <a:endParaRPr lang="en-US" altLang="en-US" sz="2800" b="1" dirty="0">
              <a:solidFill>
                <a:srgbClr val="61515A"/>
              </a:solidFill>
              <a:latin typeface="Gelasio" pitchFamily="34" charset="0"/>
              <a:cs typeface="Gelasio" pitchFamily="34" charset="0"/>
            </a:endParaRPr>
          </a:p>
          <a:p>
            <a:pPr marL="0" indent="0" algn="l">
              <a:lnSpc>
                <a:spcPts val="2050"/>
              </a:lnSpc>
              <a:buNone/>
            </a:pPr>
            <a:endParaRPr lang="en-US" altLang="en-US" sz="2800" b="1" dirty="0">
              <a:solidFill>
                <a:srgbClr val="61515A"/>
              </a:solidFill>
              <a:latin typeface="Gelasio" pitchFamily="34" charset="0"/>
              <a:cs typeface="Gelasio" pitchFamily="34" charset="0"/>
            </a:endParaRPr>
          </a:p>
        </p:txBody>
      </p:sp>
      <p:sp>
        <p:nvSpPr>
          <p:cNvPr id="8" name="Text 5"/>
          <p:cNvSpPr/>
          <p:nvPr>
            <p:custDataLst>
              <p:tags r:id="rId1"/>
            </p:custDataLst>
          </p:nvPr>
        </p:nvSpPr>
        <p:spPr>
          <a:xfrm>
            <a:off x="1271270" y="3613150"/>
            <a:ext cx="5234940" cy="3330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2"/>
            </p:custDataLst>
          </p:nvPr>
        </p:nvSpPr>
        <p:spPr>
          <a:xfrm>
            <a:off x="699770" y="4114800"/>
            <a:ext cx="6824980" cy="2995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rgbClr val="725E69"/>
                </a:solidFill>
                <a:latin typeface="Gelasio" pitchFamily="34" charset="0"/>
                <a:cs typeface="Gelasio" pitchFamily="34" charset="0"/>
                <a:sym typeface="+mn-ea"/>
              </a:rPr>
              <a:t>Zentro is a web-based </a:t>
            </a:r>
            <a:br>
              <a:rPr lang="en-US" altLang="en-US" sz="2800" dirty="0">
                <a:solidFill>
                  <a:srgbClr val="725E69"/>
                </a:solidFill>
                <a:latin typeface="Gelasio" pitchFamily="34" charset="0"/>
                <a:cs typeface="Gelasio" pitchFamily="34" charset="0"/>
                <a:sym typeface="+mn-ea"/>
              </a:rPr>
            </a:br>
            <a:r>
              <a:rPr lang="en-US" altLang="en-US" sz="2800" dirty="0">
                <a:solidFill>
                  <a:srgbClr val="725E69"/>
                </a:solidFill>
                <a:latin typeface="Gelasio" pitchFamily="34" charset="0"/>
                <a:cs typeface="Gelasio" pitchFamily="34" charset="0"/>
                <a:sym typeface="+mn-ea"/>
              </a:rPr>
              <a:t>application that automates:</a:t>
            </a:r>
            <a:endParaRPr lang="en-US" altLang="en-US" sz="2800" dirty="0">
              <a:solidFill>
                <a:srgbClr val="725E69"/>
              </a:solidFill>
              <a:latin typeface="Gelasio" pitchFamily="34" charset="0"/>
              <a:cs typeface="Gelasio" pitchFamily="34" charset="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rgbClr val="725E69"/>
                </a:solidFill>
                <a:latin typeface="Gelasio" pitchFamily="34" charset="0"/>
                <a:cs typeface="Gelasio" pitchFamily="34" charset="0"/>
                <a:sym typeface="+mn-ea"/>
              </a:rPr>
              <a:t>Event creation</a:t>
            </a:r>
            <a:endParaRPr lang="en-US" altLang="en-US" sz="2800" dirty="0">
              <a:solidFill>
                <a:srgbClr val="725E69"/>
              </a:solidFill>
              <a:latin typeface="Gelasio" pitchFamily="34" charset="0"/>
              <a:cs typeface="Gelasio" pitchFamily="34" charset="0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rgbClr val="725E69"/>
                </a:solidFill>
                <a:latin typeface="Gelasio" pitchFamily="34" charset="0"/>
                <a:cs typeface="Gelasio" pitchFamily="34" charset="0"/>
              </a:rPr>
              <a:t>User registration</a:t>
            </a:r>
            <a:endParaRPr lang="en-US" altLang="en-US" sz="2800" dirty="0">
              <a:solidFill>
                <a:srgbClr val="725E69"/>
              </a:solidFill>
              <a:latin typeface="Gelasio" pitchFamily="34" charset="0"/>
              <a:cs typeface="Gelasio" pitchFamily="34" charset="0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rgbClr val="725E69"/>
                </a:solidFill>
                <a:latin typeface="Gelasio" pitchFamily="34" charset="0"/>
                <a:cs typeface="Gelasio" pitchFamily="34" charset="0"/>
              </a:rPr>
              <a:t>Ticket booking</a:t>
            </a:r>
            <a:endParaRPr lang="en-US" altLang="en-US" sz="2800" dirty="0">
              <a:solidFill>
                <a:srgbClr val="725E69"/>
              </a:solidFill>
              <a:latin typeface="Gelasio" pitchFamily="34" charset="0"/>
              <a:cs typeface="Gelasio" pitchFamily="34" charset="0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§"/>
            </a:pPr>
            <a:r>
              <a:rPr lang="en-US" altLang="en-US" sz="2800" dirty="0">
                <a:solidFill>
                  <a:srgbClr val="725E69"/>
                </a:solidFill>
                <a:latin typeface="Gelasio" pitchFamily="34" charset="0"/>
                <a:cs typeface="Gelasio" pitchFamily="34" charset="0"/>
              </a:rPr>
              <a:t>Data storage and management</a:t>
            </a:r>
            <a:endParaRPr lang="en-US" altLang="en-US" sz="2800" dirty="0">
              <a:solidFill>
                <a:srgbClr val="725E69"/>
              </a:solidFill>
              <a:latin typeface="Gelasio" pitchFamily="34" charset="0"/>
              <a:cs typeface="Gelasio" pitchFamily="34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8014335" y="2949575"/>
            <a:ext cx="6170930" cy="3994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custDataLst>
              <p:tags r:id="rId1"/>
            </p:custDataLst>
          </p:nvPr>
        </p:nvSpPr>
        <p:spPr>
          <a:xfrm>
            <a:off x="5164455" y="3928110"/>
            <a:ext cx="3616960" cy="2283460"/>
          </a:xfrm>
          <a:prstGeom prst="roundRect">
            <a:avLst>
              <a:gd name="adj" fmla="val 5369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7" name="Shape 2"/>
          <p:cNvSpPr/>
          <p:nvPr>
            <p:custDataLst>
              <p:tags r:id="rId2"/>
            </p:custDataLst>
          </p:nvPr>
        </p:nvSpPr>
        <p:spPr>
          <a:xfrm>
            <a:off x="989330" y="5491480"/>
            <a:ext cx="3826510" cy="2371090"/>
          </a:xfrm>
          <a:prstGeom prst="roundRect">
            <a:avLst>
              <a:gd name="adj" fmla="val 5369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699770" y="790575"/>
            <a:ext cx="13054330" cy="7937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44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Problem Statement:</a:t>
            </a:r>
            <a:r>
              <a:rPr lang="en-US" sz="2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772795" y="1461770"/>
            <a:ext cx="12640945" cy="1049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GB" sz="2400" dirty="0">
                <a:solidFill>
                  <a:srgbClr val="61515A"/>
                </a:solidFill>
                <a:latin typeface="Gelasio" pitchFamily="34" charset="0"/>
                <a:cs typeface="Gelasio" pitchFamily="34" charset="0"/>
              </a:rPr>
              <a:t>Current event management systems are often hampered by labour-intensive manual processes. Without automation, critical functions become cumbersome and inefficient:</a:t>
            </a:r>
            <a:endParaRPr lang="en-US" altLang="en-GB" sz="2400" dirty="0">
              <a:solidFill>
                <a:srgbClr val="61515A"/>
              </a:solidFill>
              <a:latin typeface="Gelasio" pitchFamily="34" charset="0"/>
              <a:cs typeface="Gelasio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045210" y="2961640"/>
            <a:ext cx="3732530" cy="2363470"/>
            <a:chOff x="1646" y="4304"/>
            <a:chExt cx="5878" cy="3722"/>
          </a:xfrm>
        </p:grpSpPr>
        <p:sp>
          <p:nvSpPr>
            <p:cNvPr id="5" name="Shape 2"/>
            <p:cNvSpPr/>
            <p:nvPr>
              <p:custDataLst>
                <p:tags r:id="rId3"/>
              </p:custDataLst>
            </p:nvPr>
          </p:nvSpPr>
          <p:spPr>
            <a:xfrm>
              <a:off x="1666" y="4304"/>
              <a:ext cx="5859" cy="3723"/>
            </a:xfrm>
            <a:prstGeom prst="roundRect">
              <a:avLst>
                <a:gd name="adj" fmla="val 5369"/>
              </a:avLst>
            </a:prstGeom>
            <a:solidFill>
              <a:srgbClr val="F9F6F0"/>
            </a:solidFill>
            <a:ln w="22860">
              <a:solidFill>
                <a:srgbClr val="D4CEC3"/>
              </a:solidFill>
              <a:prstDash val="solid"/>
            </a:ln>
          </p:spPr>
        </p:sp>
        <p:sp>
          <p:nvSpPr>
            <p:cNvPr id="6" name="Shape 3"/>
            <p:cNvSpPr/>
            <p:nvPr>
              <p:custDataLst>
                <p:tags r:id="rId4"/>
              </p:custDataLst>
            </p:nvPr>
          </p:nvSpPr>
          <p:spPr>
            <a:xfrm flipH="1">
              <a:off x="1646" y="4304"/>
              <a:ext cx="154" cy="3716"/>
            </a:xfrm>
            <a:prstGeom prst="roundRect">
              <a:avLst>
                <a:gd name="adj" fmla="val 26945"/>
              </a:avLst>
            </a:prstGeom>
            <a:solidFill>
              <a:srgbClr val="725E69"/>
            </a:solidFill>
          </p:spPr>
        </p:sp>
      </p:grp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145540" y="3203575"/>
            <a:ext cx="3023235" cy="5187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Registration Tracking</a:t>
            </a:r>
            <a:endParaRPr lang="en-US" sz="2400" b="1" dirty="0">
              <a:solidFill>
                <a:srgbClr val="746558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1249680" y="3720465"/>
            <a:ext cx="3383280" cy="1308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3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Manually overseeing attendee registrations becomes a complex task as numbers grow.</a:t>
            </a:r>
            <a:endParaRPr lang="en-US" sz="2300" b="1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1235075" y="5579745"/>
            <a:ext cx="3397885" cy="483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Ticket Distribution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1249680" y="6062980"/>
            <a:ext cx="3306445" cy="1619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manual distribution and validation of tickets present logistical nightmares for large-scale events.</a:t>
            </a:r>
            <a:endParaRPr lang="en-US" sz="2300" dirty="0"/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5393055" y="4114800"/>
            <a:ext cx="3281680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Payment Handling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10"/>
            </p:custDataLst>
          </p:nvPr>
        </p:nvSpPr>
        <p:spPr>
          <a:xfrm>
            <a:off x="5394325" y="4639945"/>
            <a:ext cx="3300095" cy="14230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Managing varied payment methods and ensuring accurate financial records is challenging.</a:t>
            </a:r>
            <a:endParaRPr lang="en-US" sz="2300" dirty="0"/>
          </a:p>
        </p:txBody>
      </p:sp>
      <p:sp>
        <p:nvSpPr>
          <p:cNvPr id="18" name="Shape 3"/>
          <p:cNvSpPr/>
          <p:nvPr>
            <p:custDataLst>
              <p:tags r:id="rId11"/>
            </p:custDataLst>
          </p:nvPr>
        </p:nvSpPr>
        <p:spPr>
          <a:xfrm flipH="1">
            <a:off x="988060" y="5492115"/>
            <a:ext cx="116205" cy="2360930"/>
          </a:xfrm>
          <a:prstGeom prst="roundRect">
            <a:avLst>
              <a:gd name="adj" fmla="val 26945"/>
            </a:avLst>
          </a:prstGeom>
          <a:solidFill>
            <a:srgbClr val="725E69"/>
          </a:solidFill>
        </p:spPr>
      </p:sp>
      <p:sp>
        <p:nvSpPr>
          <p:cNvPr id="24" name="Shape 3"/>
          <p:cNvSpPr/>
          <p:nvPr>
            <p:custDataLst>
              <p:tags r:id="rId12"/>
            </p:custDataLst>
          </p:nvPr>
        </p:nvSpPr>
        <p:spPr>
          <a:xfrm flipH="1">
            <a:off x="5133340" y="3945255"/>
            <a:ext cx="99060" cy="2235200"/>
          </a:xfrm>
          <a:prstGeom prst="roundRect">
            <a:avLst>
              <a:gd name="adj" fmla="val 26945"/>
            </a:avLst>
          </a:prstGeom>
          <a:solidFill>
            <a:srgbClr val="725E69"/>
          </a:solidFill>
        </p:spPr>
      </p:sp>
      <p:pic>
        <p:nvPicPr>
          <p:cNvPr id="10" name="Picture 9" descr="C:/Users/pc/Desktop/zqCAagiPvM4dapI8MIvFH.jpgzqCAagiPvM4dapI8MIvFH"/>
          <p:cNvPicPr/>
          <p:nvPr/>
        </p:nvPicPr>
        <p:blipFill>
          <a:blip r:embed="rId13"/>
          <a:srcRect l="2491" r="2491"/>
          <a:stretch>
            <a:fillRect/>
          </a:stretch>
        </p:blipFill>
        <p:spPr>
          <a:xfrm>
            <a:off x="9129395" y="2484120"/>
            <a:ext cx="4930140" cy="5188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667"/>
            <a:ext cx="7730014" cy="496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40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Objectives: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793790" y="1828681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primary goal of our Event Management System is to provide a comprehensive, user-friendly platform that simplifies every aspect of event organization and participation.</a:t>
            </a:r>
            <a:endParaRPr lang="en-US" sz="20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800735" y="3083560"/>
            <a:ext cx="4232275" cy="310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Online Event Creation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793790" y="3513058"/>
            <a:ext cx="4238863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Empower organizers to easily create, publish, and manage event details, including schedules, venues, and descriptions.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32653" y="2707958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4305" y="4019610"/>
            <a:ext cx="279083" cy="279083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8"/>
            </p:custDataLst>
          </p:nvPr>
        </p:nvSpPr>
        <p:spPr>
          <a:xfrm>
            <a:off x="9597628" y="3083838"/>
            <a:ext cx="348555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User Registration &amp; Booking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9"/>
            </p:custDataLst>
          </p:nvPr>
        </p:nvSpPr>
        <p:spPr>
          <a:xfrm>
            <a:off x="9597628" y="3513058"/>
            <a:ext cx="4238982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 attendees to register for events, select ticket types, and complete bookings seamlessly through an intuitive interface.</a:t>
            </a: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032653" y="2707958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06655" y="4019610"/>
            <a:ext cx="279083" cy="279083"/>
          </a:xfrm>
          <a:prstGeom prst="rect">
            <a:avLst/>
          </a:prstGeom>
        </p:spPr>
      </p:pic>
      <p:sp>
        <p:nvSpPr>
          <p:cNvPr id="12" name="Text 6"/>
          <p:cNvSpPr/>
          <p:nvPr>
            <p:custDataLst>
              <p:tags r:id="rId14"/>
            </p:custDataLst>
          </p:nvPr>
        </p:nvSpPr>
        <p:spPr>
          <a:xfrm>
            <a:off x="9597628" y="5515094"/>
            <a:ext cx="3016568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Secure Database Storage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3" name="Text 7"/>
          <p:cNvSpPr/>
          <p:nvPr>
            <p:custDataLst>
              <p:tags r:id="rId15"/>
            </p:custDataLst>
          </p:nvPr>
        </p:nvSpPr>
        <p:spPr>
          <a:xfrm>
            <a:off x="9597628" y="5944314"/>
            <a:ext cx="4238982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Ensure all event, user, and transaction data is stored securely and reliably in a robust database.</a:t>
            </a:r>
            <a:endParaRPr lang="en-US" dirty="0"/>
          </a:p>
        </p:txBody>
      </p:sp>
      <p:pic>
        <p:nvPicPr>
          <p:cNvPr id="14" name="Image 4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032653" y="2707958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06655" y="5681960"/>
            <a:ext cx="279083" cy="279083"/>
          </a:xfrm>
          <a:prstGeom prst="rect">
            <a:avLst/>
          </a:prstGeom>
        </p:spPr>
      </p:pic>
      <p:sp>
        <p:nvSpPr>
          <p:cNvPr id="16" name="Text 8"/>
          <p:cNvSpPr/>
          <p:nvPr>
            <p:custDataLst>
              <p:tags r:id="rId20"/>
            </p:custDataLst>
          </p:nvPr>
        </p:nvSpPr>
        <p:spPr>
          <a:xfrm>
            <a:off x="788035" y="5514975"/>
            <a:ext cx="3970020" cy="3098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Admin Control &amp; Monitoring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7" name="Text 9"/>
          <p:cNvSpPr/>
          <p:nvPr>
            <p:custDataLst>
              <p:tags r:id="rId21"/>
            </p:custDataLst>
          </p:nvPr>
        </p:nvSpPr>
        <p:spPr>
          <a:xfrm>
            <a:off x="793750" y="5944235"/>
            <a:ext cx="4238625" cy="13404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 administrators with powerful tools to oversee all events, manage users, and monitor system activities effectively</a:t>
            </a: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550" dirty="0"/>
          </a:p>
        </p:txBody>
      </p:sp>
      <p:grpSp>
        <p:nvGrpSpPr>
          <p:cNvPr id="20" name="Group 19"/>
          <p:cNvGrpSpPr/>
          <p:nvPr>
            <p:custDataLst>
              <p:tags r:id="rId22"/>
            </p:custDataLst>
          </p:nvPr>
        </p:nvGrpSpPr>
        <p:grpSpPr>
          <a:xfrm>
            <a:off x="5032375" y="2708275"/>
            <a:ext cx="4564380" cy="4564380"/>
            <a:chOff x="7925" y="4265"/>
            <a:chExt cx="7188" cy="7188"/>
          </a:xfrm>
        </p:grpSpPr>
        <p:pic>
          <p:nvPicPr>
            <p:cNvPr id="18" name="Image 6" descr="preencoded.png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7925" y="4265"/>
              <a:ext cx="7189" cy="7189"/>
            </a:xfrm>
            <a:prstGeom prst="rect">
              <a:avLst/>
            </a:prstGeom>
          </p:spPr>
        </p:pic>
        <p:pic>
          <p:nvPicPr>
            <p:cNvPr id="19" name="Image 7" descr="preencoded.png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991" y="8948"/>
              <a:ext cx="440" cy="4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1125" y="726440"/>
            <a:ext cx="11867515" cy="5657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Technologies Utilized: Building Blocks of Innovation</a:t>
            </a:r>
            <a:endParaRPr lang="en-US" sz="4000" dirty="0">
              <a:solidFill>
                <a:srgbClr val="484237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97760" y="1036320"/>
            <a:ext cx="10624820" cy="1428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98700" y="6025515"/>
            <a:ext cx="721995" cy="721995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3130550" y="6085840"/>
            <a:ext cx="2244725" cy="4978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Frontend</a:t>
            </a:r>
            <a:endParaRPr lang="en-US" sz="32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3390265" y="6747510"/>
            <a:ext cx="198501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HTML</a:t>
            </a:r>
            <a:endParaRPr lang="en-US" sz="24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CSS</a:t>
            </a:r>
            <a:br>
              <a:rPr lang="en-US" sz="2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</a:br>
            <a:r>
              <a:rPr lang="en-US" sz="2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JavaScript</a:t>
            </a:r>
            <a:endParaRPr lang="en-US" sz="24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744006" y="4371777"/>
            <a:ext cx="801172" cy="801172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5751830" y="4719955"/>
            <a:ext cx="1687830" cy="4533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Backend</a:t>
            </a:r>
            <a:endParaRPr lang="en-US" sz="32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8"/>
            </p:custDataLst>
          </p:nvPr>
        </p:nvSpPr>
        <p:spPr>
          <a:xfrm>
            <a:off x="5824220" y="5312410"/>
            <a:ext cx="1917065" cy="529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Django</a:t>
            </a:r>
            <a:endParaRPr lang="en-US" sz="28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39420" y="4446905"/>
            <a:ext cx="715645" cy="715645"/>
          </a:xfrm>
          <a:prstGeom prst="rect">
            <a:avLst/>
          </a:prstGeom>
        </p:spPr>
      </p:pic>
      <p:sp>
        <p:nvSpPr>
          <p:cNvPr id="11" name="Text 6"/>
          <p:cNvSpPr/>
          <p:nvPr>
            <p:custDataLst>
              <p:tags r:id="rId11"/>
            </p:custDataLst>
          </p:nvPr>
        </p:nvSpPr>
        <p:spPr>
          <a:xfrm>
            <a:off x="1273175" y="4566285"/>
            <a:ext cx="2096135" cy="4489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Database</a:t>
            </a:r>
            <a:endParaRPr lang="en-US" sz="32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2" name="Text 7"/>
          <p:cNvSpPr/>
          <p:nvPr>
            <p:custDataLst>
              <p:tags r:id="rId12"/>
            </p:custDataLst>
          </p:nvPr>
        </p:nvSpPr>
        <p:spPr>
          <a:xfrm>
            <a:off x="1155065" y="5162550"/>
            <a:ext cx="3382645" cy="528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 (Using SSMS)</a:t>
            </a:r>
            <a:endParaRPr lang="en-US" sz="28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3" name="Shape 8"/>
          <p:cNvSpPr/>
          <p:nvPr>
            <p:custDataLst>
              <p:tags r:id="rId13"/>
            </p:custDataLst>
          </p:nvPr>
        </p:nvSpPr>
        <p:spPr>
          <a:xfrm>
            <a:off x="1486535" y="1644650"/>
            <a:ext cx="5198110" cy="2077085"/>
          </a:xfrm>
          <a:prstGeom prst="roundRect">
            <a:avLst>
              <a:gd name="adj" fmla="val 1276"/>
            </a:avLst>
          </a:prstGeom>
          <a:solidFill>
            <a:srgbClr val="EEE8DD"/>
          </a:solidFill>
        </p:spPr>
      </p:sp>
      <p:sp>
        <p:nvSpPr>
          <p:cNvPr id="14" name="Shape 9"/>
          <p:cNvSpPr/>
          <p:nvPr>
            <p:custDataLst>
              <p:tags r:id="rId14"/>
            </p:custDataLst>
          </p:nvPr>
        </p:nvSpPr>
        <p:spPr>
          <a:xfrm>
            <a:off x="1930400" y="1941195"/>
            <a:ext cx="466725" cy="481330"/>
          </a:xfrm>
          <a:prstGeom prst="roundRect">
            <a:avLst>
              <a:gd name="adj" fmla="val 23012357"/>
            </a:avLst>
          </a:prstGeom>
          <a:solidFill>
            <a:srgbClr val="D3C5B6"/>
          </a:solidFill>
        </p:spPr>
      </p:sp>
      <p:pic>
        <p:nvPicPr>
          <p:cNvPr id="15" name="Image 3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14220" y="2047875"/>
            <a:ext cx="284480" cy="284480"/>
          </a:xfrm>
          <a:prstGeom prst="rect">
            <a:avLst/>
          </a:prstGeom>
        </p:spPr>
      </p:pic>
      <p:sp>
        <p:nvSpPr>
          <p:cNvPr id="16" name="Text 10"/>
          <p:cNvSpPr/>
          <p:nvPr>
            <p:custDataLst>
              <p:tags r:id="rId18"/>
            </p:custDataLst>
          </p:nvPr>
        </p:nvSpPr>
        <p:spPr>
          <a:xfrm>
            <a:off x="2712720" y="2033905"/>
            <a:ext cx="2120900" cy="4311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Visual Stud</a:t>
            </a: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io</a:t>
            </a:r>
            <a:endParaRPr lang="en-US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7" name="Text 11"/>
          <p:cNvSpPr/>
          <p:nvPr>
            <p:custDataLst>
              <p:tags r:id="rId19"/>
            </p:custDataLst>
          </p:nvPr>
        </p:nvSpPr>
        <p:spPr>
          <a:xfrm>
            <a:off x="1787525" y="2786380"/>
            <a:ext cx="4360545" cy="768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intelligent  IDE used for efficient coding, debugging, and project management in Django development.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18" name="Shape 12"/>
          <p:cNvSpPr/>
          <p:nvPr>
            <p:custDataLst>
              <p:tags r:id="rId20"/>
            </p:custDataLst>
          </p:nvPr>
        </p:nvSpPr>
        <p:spPr>
          <a:xfrm>
            <a:off x="7741285" y="1644650"/>
            <a:ext cx="5485130" cy="2077720"/>
          </a:xfrm>
          <a:prstGeom prst="roundRect">
            <a:avLst>
              <a:gd name="adj" fmla="val 1276"/>
            </a:avLst>
          </a:prstGeom>
          <a:solidFill>
            <a:srgbClr val="EEE8DD"/>
          </a:solidFill>
        </p:spPr>
      </p:sp>
      <p:sp>
        <p:nvSpPr>
          <p:cNvPr id="19" name="Shape 13"/>
          <p:cNvSpPr/>
          <p:nvPr>
            <p:custDataLst>
              <p:tags r:id="rId21"/>
            </p:custDataLst>
          </p:nvPr>
        </p:nvSpPr>
        <p:spPr>
          <a:xfrm>
            <a:off x="8055610" y="1866900"/>
            <a:ext cx="431800" cy="532130"/>
          </a:xfrm>
          <a:prstGeom prst="roundRect">
            <a:avLst>
              <a:gd name="adj" fmla="val 23012357"/>
            </a:avLst>
          </a:prstGeom>
          <a:solidFill>
            <a:srgbClr val="D3C5B6"/>
          </a:solidFill>
        </p:spPr>
      </p:sp>
      <p:pic>
        <p:nvPicPr>
          <p:cNvPr id="20" name="Image 4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133715" y="1993265"/>
            <a:ext cx="295910" cy="295910"/>
          </a:xfrm>
          <a:prstGeom prst="rect">
            <a:avLst/>
          </a:prstGeom>
        </p:spPr>
      </p:pic>
      <p:sp>
        <p:nvSpPr>
          <p:cNvPr id="21" name="Text 14"/>
          <p:cNvSpPr/>
          <p:nvPr>
            <p:custDataLst>
              <p:tags r:id="rId24"/>
            </p:custDataLst>
          </p:nvPr>
        </p:nvSpPr>
        <p:spPr>
          <a:xfrm>
            <a:off x="8635365" y="1978660"/>
            <a:ext cx="3933825" cy="304165"/>
          </a:xfrm>
          <a:prstGeom prst="rect">
            <a:avLst/>
          </a:prstGeom>
          <a:solidFill>
            <a:srgbClr val="EEE8DD"/>
          </a:solidFill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SQL Server Management Studi</a:t>
            </a:r>
            <a:r>
              <a:rPr lang="en-US" sz="2400" b="1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</a:t>
            </a:r>
            <a:endParaRPr lang="en-US" sz="2400" b="1" dirty="0">
              <a:solidFill>
                <a:srgbClr val="746558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22" name="Text 15"/>
          <p:cNvSpPr/>
          <p:nvPr>
            <p:custDataLst>
              <p:tags r:id="rId25"/>
            </p:custDataLst>
          </p:nvPr>
        </p:nvSpPr>
        <p:spPr>
          <a:xfrm>
            <a:off x="7952740" y="2764155"/>
            <a:ext cx="5032375" cy="5753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integrated environment for managing SQL Server infrastructure, used for database design and administration.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26"/>
          <a:srcRect b="12686"/>
          <a:stretch>
            <a:fillRect/>
          </a:stretch>
        </p:blipFill>
        <p:spPr>
          <a:xfrm>
            <a:off x="7995285" y="4114800"/>
            <a:ext cx="6029325" cy="3653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50" y="1026795"/>
            <a:ext cx="12003405" cy="1196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40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System Architecture: </a:t>
            </a:r>
            <a:br>
              <a:rPr lang="en-US" sz="40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</a:br>
            <a:r>
              <a:rPr lang="en-US" sz="40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			A Three-Tiered Approach</a:t>
            </a:r>
            <a:endParaRPr lang="en-US" sz="4000" b="1" dirty="0"/>
          </a:p>
        </p:txBody>
      </p:sp>
      <p:sp>
        <p:nvSpPr>
          <p:cNvPr id="4" name="Text 1"/>
          <p:cNvSpPr/>
          <p:nvPr/>
        </p:nvSpPr>
        <p:spPr>
          <a:xfrm>
            <a:off x="793750" y="2250440"/>
            <a:ext cx="7647940" cy="14230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Event Management System employs a classic three-tier architecture, ensuring clear separation of concerns, scalability, and maintainability. This structure facilitates efficient data flow and robust application performance.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96891"/>
            <a:ext cx="7556421" cy="2443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8201" y="5248133"/>
            <a:ext cx="1657965" cy="2072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User Interfac</a:t>
            </a: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72185" y="5514340"/>
            <a:ext cx="2033905" cy="297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Client-facing web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189344" y="4669688"/>
            <a:ext cx="1657965" cy="2072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Django Backend</a:t>
            </a:r>
            <a:endParaRPr lang="en-US" sz="1600" b="1" dirty="0"/>
          </a:p>
        </p:txBody>
      </p:sp>
      <p:sp>
        <p:nvSpPr>
          <p:cNvPr id="9" name="Text 5"/>
          <p:cNvSpPr/>
          <p:nvPr/>
        </p:nvSpPr>
        <p:spPr>
          <a:xfrm>
            <a:off x="6189345" y="4935855"/>
            <a:ext cx="1982470" cy="313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logic and </a:t>
            </a:r>
            <a:endParaRPr lang="en-US" sz="14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48086" y="4142823"/>
            <a:ext cx="1657965" cy="2072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SQL Server</a:t>
            </a:r>
            <a:endParaRPr lang="en-US" sz="1600" b="1" dirty="0"/>
          </a:p>
        </p:txBody>
      </p:sp>
      <p:sp>
        <p:nvSpPr>
          <p:cNvPr id="11" name="Text 7"/>
          <p:cNvSpPr/>
          <p:nvPr/>
        </p:nvSpPr>
        <p:spPr>
          <a:xfrm>
            <a:off x="972185" y="4401820"/>
            <a:ext cx="2033905" cy="5372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Persistent relational</a:t>
            </a:r>
            <a:endParaRPr lang="en-US" sz="14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data store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93750" y="6363335"/>
            <a:ext cx="7535545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architecture provides a clear pathway for user requests, processing logic, and data storage, creating a stable and scalable foundation for the application.</a:t>
            </a:r>
            <a:endParaRPr lang="en-US" dirty="0"/>
          </a:p>
        </p:txBody>
      </p:sp>
      <p:pic>
        <p:nvPicPr>
          <p:cNvPr id="14" name="Picture 13"/>
          <p:cNvPicPr/>
          <p:nvPr/>
        </p:nvPicPr>
        <p:blipFill>
          <a:blip r:embed="rId2"/>
          <a:srcRect l="16697" r="13976"/>
          <a:stretch>
            <a:fillRect/>
          </a:stretch>
        </p:blipFill>
        <p:spPr>
          <a:xfrm>
            <a:off x="9215755" y="2223770"/>
            <a:ext cx="4763135" cy="537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85825" y="2435860"/>
            <a:ext cx="6906260" cy="4364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Database contains the following tables:</a:t>
            </a:r>
            <a:endParaRPr lang="en-US" altLang="en-US" sz="28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User</a:t>
            </a:r>
            <a:endParaRPr lang="en-US" altLang="en-US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Event</a:t>
            </a:r>
            <a:endParaRPr lang="en-US" altLang="en-US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Attendee</a:t>
            </a:r>
            <a:endParaRPr lang="en-US" altLang="en-US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Ticket</a:t>
            </a:r>
            <a:endParaRPr lang="en-US" altLang="en-US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Registration</a:t>
            </a:r>
            <a:endParaRPr lang="en-US" altLang="en-US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All tables are connected using Primary and Foreign Keys.</a:t>
            </a:r>
            <a:endParaRPr lang="en-US" altLang="en-US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29310" y="1169670"/>
            <a:ext cx="6215380" cy="734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Database Design:</a:t>
            </a:r>
            <a:endParaRPr lang="en-US" sz="4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7867650" y="1593215"/>
            <a:ext cx="6343650" cy="5786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25270" y="917575"/>
            <a:ext cx="12033250" cy="7867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440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Database Design: The Backbone of Information</a:t>
            </a:r>
            <a:endParaRPr lang="en-US" sz="4400" b="1" dirty="0"/>
          </a:p>
        </p:txBody>
      </p:sp>
      <p:sp>
        <p:nvSpPr>
          <p:cNvPr id="4" name="Text 1"/>
          <p:cNvSpPr/>
          <p:nvPr/>
        </p:nvSpPr>
        <p:spPr>
          <a:xfrm>
            <a:off x="1525270" y="2233295"/>
            <a:ext cx="11580495" cy="1039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database schema is meticulously designed to ensure data integrity, efficient retrieval, and robust relationships between different entities. This forms the foundational structure for all event-related information.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524953" y="5541804"/>
            <a:ext cx="11580376" cy="22860"/>
          </a:xfrm>
          <a:prstGeom prst="roundRect">
            <a:avLst>
              <a:gd name="adj" fmla="val 105120"/>
            </a:avLst>
          </a:prstGeom>
          <a:solidFill>
            <a:srgbClr val="D4CEC3"/>
          </a:solidFill>
        </p:spPr>
      </p:sp>
      <p:sp>
        <p:nvSpPr>
          <p:cNvPr id="6" name="Shape 3"/>
          <p:cNvSpPr/>
          <p:nvPr/>
        </p:nvSpPr>
        <p:spPr>
          <a:xfrm>
            <a:off x="3851434" y="5062538"/>
            <a:ext cx="22860" cy="480536"/>
          </a:xfrm>
          <a:prstGeom prst="roundRect">
            <a:avLst>
              <a:gd name="adj" fmla="val 105120"/>
            </a:avLst>
          </a:prstGeom>
          <a:solidFill>
            <a:srgbClr val="D4CEC3"/>
          </a:solidFill>
        </p:spPr>
      </p:sp>
      <p:sp>
        <p:nvSpPr>
          <p:cNvPr id="8" name="Shape 5"/>
          <p:cNvSpPr/>
          <p:nvPr/>
        </p:nvSpPr>
        <p:spPr>
          <a:xfrm>
            <a:off x="1525270" y="3703320"/>
            <a:ext cx="4512310" cy="1537970"/>
          </a:xfrm>
          <a:prstGeom prst="roundRect">
            <a:avLst>
              <a:gd name="adj" fmla="val 2038"/>
            </a:avLst>
          </a:prstGeom>
          <a:solidFill>
            <a:srgbClr val="EEE8DD"/>
          </a:solidFill>
        </p:spPr>
      </p:sp>
      <p:sp>
        <p:nvSpPr>
          <p:cNvPr id="9" name="Text 6"/>
          <p:cNvSpPr/>
          <p:nvPr/>
        </p:nvSpPr>
        <p:spPr>
          <a:xfrm>
            <a:off x="2779395" y="3898265"/>
            <a:ext cx="2002790" cy="437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Event Table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685290" y="4197350"/>
            <a:ext cx="4191635" cy="982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Stores details about each event, including name, date, location, description, and capacity.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48388" y="5595779"/>
            <a:ext cx="22860" cy="480536"/>
          </a:xfrm>
          <a:prstGeom prst="roundRect">
            <a:avLst>
              <a:gd name="adj" fmla="val 105120"/>
            </a:avLst>
          </a:prstGeom>
          <a:solidFill>
            <a:srgbClr val="D4CEC3"/>
          </a:solidFill>
        </p:spPr>
      </p:sp>
      <p:sp>
        <p:nvSpPr>
          <p:cNvPr id="13" name="Shape 10"/>
          <p:cNvSpPr/>
          <p:nvPr/>
        </p:nvSpPr>
        <p:spPr>
          <a:xfrm>
            <a:off x="3881120" y="5911850"/>
            <a:ext cx="4512310" cy="1583690"/>
          </a:xfrm>
          <a:prstGeom prst="roundRect">
            <a:avLst>
              <a:gd name="adj" fmla="val 2038"/>
            </a:avLst>
          </a:prstGeom>
          <a:solidFill>
            <a:srgbClr val="EEE8DD"/>
          </a:solidFill>
        </p:spPr>
      </p:sp>
      <p:sp>
        <p:nvSpPr>
          <p:cNvPr id="14" name="Text 11"/>
          <p:cNvSpPr/>
          <p:nvPr/>
        </p:nvSpPr>
        <p:spPr>
          <a:xfrm>
            <a:off x="5135880" y="6083935"/>
            <a:ext cx="2002790" cy="3651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Attendee Table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41140" y="6447155"/>
            <a:ext cx="4191635" cy="8883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Contains user information, such as name, contact details, and account credentials.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58795" y="5062538"/>
            <a:ext cx="22860" cy="480536"/>
          </a:xfrm>
          <a:prstGeom prst="roundRect">
            <a:avLst>
              <a:gd name="adj" fmla="val 105120"/>
            </a:avLst>
          </a:prstGeom>
          <a:solidFill>
            <a:srgbClr val="D4CEC3"/>
          </a:solidFill>
        </p:spPr>
      </p:sp>
      <p:sp>
        <p:nvSpPr>
          <p:cNvPr id="18" name="Shape 15"/>
          <p:cNvSpPr/>
          <p:nvPr/>
        </p:nvSpPr>
        <p:spPr>
          <a:xfrm>
            <a:off x="6236970" y="3734435"/>
            <a:ext cx="4512310" cy="1537970"/>
          </a:xfrm>
          <a:prstGeom prst="roundRect">
            <a:avLst>
              <a:gd name="adj" fmla="val 2038"/>
            </a:avLst>
          </a:prstGeom>
          <a:solidFill>
            <a:srgbClr val="EEE8DD"/>
          </a:solidFill>
        </p:spPr>
      </p:sp>
      <p:sp>
        <p:nvSpPr>
          <p:cNvPr id="19" name="Text 16"/>
          <p:cNvSpPr/>
          <p:nvPr/>
        </p:nvSpPr>
        <p:spPr>
          <a:xfrm>
            <a:off x="7491730" y="3897630"/>
            <a:ext cx="2002790" cy="6889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Ticket Table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396990" y="4157980"/>
            <a:ext cx="4191635" cy="1036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Defines different ticket types for events, including price, availability, and specific features.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814923" y="5557679"/>
            <a:ext cx="22860" cy="480536"/>
          </a:xfrm>
          <a:prstGeom prst="roundRect">
            <a:avLst>
              <a:gd name="adj" fmla="val 105120"/>
            </a:avLst>
          </a:prstGeom>
          <a:solidFill>
            <a:srgbClr val="D4CEC3"/>
          </a:solidFill>
        </p:spPr>
      </p:sp>
      <p:sp>
        <p:nvSpPr>
          <p:cNvPr id="23" name="Shape 20"/>
          <p:cNvSpPr/>
          <p:nvPr/>
        </p:nvSpPr>
        <p:spPr>
          <a:xfrm>
            <a:off x="8593455" y="5910580"/>
            <a:ext cx="4512310" cy="1584960"/>
          </a:xfrm>
          <a:prstGeom prst="roundRect">
            <a:avLst>
              <a:gd name="adj" fmla="val 2038"/>
            </a:avLst>
          </a:prstGeom>
          <a:solidFill>
            <a:srgbClr val="EEE8DD"/>
          </a:solidFill>
        </p:spPr>
      </p:sp>
      <p:sp>
        <p:nvSpPr>
          <p:cNvPr id="24" name="Text 21"/>
          <p:cNvSpPr/>
          <p:nvPr/>
        </p:nvSpPr>
        <p:spPr>
          <a:xfrm>
            <a:off x="9848215" y="6076315"/>
            <a:ext cx="2002790" cy="3435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Registration Table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753475" y="6518910"/>
            <a:ext cx="4191635" cy="816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Links attendees to events and tickets, recording registration status, payment, and unique identifiers.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174750" y="1911350"/>
            <a:ext cx="6335395" cy="685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Database Relationships:</a:t>
            </a:r>
            <a:endParaRPr lang="en-US" sz="40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25120" y="3406775"/>
            <a:ext cx="8034655" cy="33089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One event can have many registrations</a:t>
            </a:r>
            <a:endParaRPr lang="en-US" altLang="en-US" sz="32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One user can register for multiple events</a:t>
            </a:r>
            <a:endParaRPr lang="en-US" altLang="en-US" sz="32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2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Foreign keys ensure referential integrity</a:t>
            </a:r>
            <a:endParaRPr lang="en-US" sz="32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8228330" y="2082165"/>
            <a:ext cx="5974715" cy="46335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43255" y="2917190"/>
            <a:ext cx="6906260" cy="27565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 Admin – manages the system (SuperUser)</a:t>
            </a:r>
            <a:endParaRPr lang="en-US" altLang="en-GB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Organizer – creates and manages events</a:t>
            </a:r>
            <a:endParaRPr lang="en-US" altLang="en-GB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28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Attendee – registers, books tickets, and makes payments</a:t>
            </a:r>
            <a:endParaRPr lang="en-US" altLang="en-GB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28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29310" y="1169670"/>
            <a:ext cx="6215380" cy="734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altLang="en-GB" sz="4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System Users</a:t>
            </a:r>
            <a:r>
              <a:rPr lang="en-US" sz="4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:</a:t>
            </a:r>
            <a:endParaRPr lang="en-US" sz="4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pic>
        <p:nvPicPr>
          <p:cNvPr id="7" name="Picture 6" descr="C:/Users/pc/Desktop/PZmXYTGKXe2UMWjY2-aiU.jpgPZmXYTGKXe2UMWjY2-aiU"/>
          <p:cNvPicPr/>
          <p:nvPr/>
        </p:nvPicPr>
        <p:blipFill>
          <a:blip r:embed="rId1"/>
          <a:srcRect t="24565" b="24565"/>
          <a:stretch>
            <a:fillRect/>
          </a:stretch>
        </p:blipFill>
        <p:spPr>
          <a:xfrm>
            <a:off x="7867650" y="1593215"/>
            <a:ext cx="6343650" cy="5786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85825" y="2435860"/>
            <a:ext cx="6906260" cy="4364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endParaRPr lang="en-US" altLang="en-US" sz="36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36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User registers/login</a:t>
            </a:r>
            <a:endParaRPr lang="en-US" altLang="en-GB" sz="36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36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Organizer creates event</a:t>
            </a:r>
            <a:endParaRPr lang="en-US" altLang="en-GB" sz="36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36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Attendee books ticket</a:t>
            </a:r>
            <a:endParaRPr lang="en-US" altLang="en-GB" sz="36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36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Payment processed</a:t>
            </a:r>
            <a:endParaRPr lang="en-US" altLang="en-GB" sz="36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3600" b="1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Ticket generated</a:t>
            </a:r>
            <a:endParaRPr lang="en-US" altLang="en-GB" sz="3600" b="1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59180" y="1593215"/>
            <a:ext cx="6215380" cy="734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Workflow</a:t>
            </a:r>
            <a:endParaRPr lang="en-US" sz="48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pic>
        <p:nvPicPr>
          <p:cNvPr id="7" name="Picture 6" descr="C:/Users/pc/Desktop/workflow-design-tools.jpgworkflow-design-tools"/>
          <p:cNvPicPr/>
          <p:nvPr/>
        </p:nvPicPr>
        <p:blipFill>
          <a:blip r:embed="rId1"/>
          <a:srcRect l="4935" r="10636"/>
          <a:stretch>
            <a:fillRect/>
          </a:stretch>
        </p:blipFill>
        <p:spPr>
          <a:xfrm>
            <a:off x="6757035" y="1593215"/>
            <a:ext cx="7223760" cy="53428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35" y="648335"/>
            <a:ext cx="14630400" cy="480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Features: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68350" y="1554480"/>
            <a:ext cx="13094335" cy="10229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Event Management System offers a comprehensive suite of features designed to cater to both event attendees and organizers, ensuring a smooth and efficient experience for all.</a:t>
            </a:r>
            <a:endParaRPr lang="en-US" sz="24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68191" y="2816503"/>
            <a:ext cx="432078" cy="432078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840165" y="2928025"/>
            <a:ext cx="288012" cy="360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392555" y="2839720"/>
            <a:ext cx="2891155" cy="312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User Authentication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392555" y="3206750"/>
            <a:ext cx="6541135" cy="12814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login and registration processes, allowing </a:t>
            </a:r>
            <a:endParaRPr lang="en-US" b="1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users to create accounts and manage their profiles</a:t>
            </a:r>
            <a:endParaRPr lang="en-US" b="1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with ease.</a:t>
            </a:r>
            <a:endParaRPr lang="en-US" b="1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768191" y="4777065"/>
            <a:ext cx="432078" cy="432078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840165" y="4877792"/>
            <a:ext cx="288012" cy="360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1392555" y="4863465"/>
            <a:ext cx="3663950" cy="285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Event Creation &amp; Editing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403350" y="5334000"/>
            <a:ext cx="6201410" cy="1040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Organizers can effortlessly create new events, 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update details, and manage event lifecycles through 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intuitive interface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778986" y="6640473"/>
            <a:ext cx="432078" cy="432078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840165" y="6687225"/>
            <a:ext cx="288012" cy="360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534557" y="6687383"/>
            <a:ext cx="2400895" cy="300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Event Registration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534795" y="7047230"/>
            <a:ext cx="6111875" cy="9779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streamlined registration flow for attendees to 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sign up for events, select ticket options, and 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provide necessary information.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rcRect t="2037" r="10484" b="13278"/>
          <a:stretch>
            <a:fillRect/>
          </a:stretch>
        </p:blipFill>
        <p:spPr>
          <a:xfrm>
            <a:off x="7604760" y="3413760"/>
            <a:ext cx="6549390" cy="3273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480" y="544830"/>
            <a:ext cx="10288270" cy="9220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800" b="1" dirty="0">
                <a:solidFill>
                  <a:srgbClr val="4D3D45"/>
                </a:solidFill>
              </a:rPr>
              <a:t>Zentro Signup:</a:t>
            </a:r>
            <a:endParaRPr lang="en-US" sz="4800" b="1" dirty="0">
              <a:solidFill>
                <a:srgbClr val="4D3D45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2480" y="1436370"/>
            <a:ext cx="9586595" cy="3168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</p:txBody>
      </p:sp>
      <p:sp>
        <p:nvSpPr>
          <p:cNvPr id="8" name="Text 2"/>
          <p:cNvSpPr/>
          <p:nvPr/>
        </p:nvSpPr>
        <p:spPr>
          <a:xfrm>
            <a:off x="792361" y="7368421"/>
            <a:ext cx="13045678" cy="316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5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285" y="1488440"/>
            <a:ext cx="10213340" cy="58286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0" y="1934845"/>
            <a:ext cx="9897110" cy="55022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03885" y="844550"/>
            <a:ext cx="7711440" cy="10369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ts val="3850"/>
              </a:lnSpc>
              <a:buNone/>
            </a:pPr>
            <a:r>
              <a:rPr lang="en-US" sz="4800" b="1" dirty="0">
                <a:solidFill>
                  <a:srgbClr val="4D3D45"/>
                </a:solidFill>
                <a:sym typeface="+mn-ea"/>
              </a:rPr>
              <a:t>Signup(As an Organizer):</a:t>
            </a:r>
            <a:endParaRPr lang="en-US" sz="4800" b="1" dirty="0">
              <a:solidFill>
                <a:srgbClr val="4D3D45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>
            <p:custDataLst>
              <p:tags r:id="rId1"/>
            </p:custDataLst>
          </p:nvPr>
        </p:nvSpPr>
        <p:spPr>
          <a:xfrm>
            <a:off x="768191" y="2469475"/>
            <a:ext cx="432078" cy="432078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17" name="Text 15"/>
          <p:cNvSpPr/>
          <p:nvPr>
            <p:custDataLst>
              <p:tags r:id="rId2"/>
            </p:custDataLst>
          </p:nvPr>
        </p:nvSpPr>
        <p:spPr>
          <a:xfrm>
            <a:off x="829370" y="2548612"/>
            <a:ext cx="288012" cy="360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6"/>
          <p:cNvSpPr/>
          <p:nvPr>
            <p:custDataLst>
              <p:tags r:id="rId3"/>
            </p:custDataLst>
          </p:nvPr>
        </p:nvSpPr>
        <p:spPr>
          <a:xfrm>
            <a:off x="1392317" y="2608461"/>
            <a:ext cx="2942153" cy="300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Ticket Payment Tracking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4"/>
            </p:custDataLst>
          </p:nvPr>
        </p:nvSpPr>
        <p:spPr>
          <a:xfrm>
            <a:off x="1392555" y="3168650"/>
            <a:ext cx="6494780" cy="12388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Integrated mechanisms to track payment statuses, 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 transactions, and ensure accurate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financial record-keeping</a:t>
            </a: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500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5"/>
            </p:custDataLst>
          </p:nvPr>
        </p:nvSpPr>
        <p:spPr>
          <a:xfrm>
            <a:off x="7811611" y="5168543"/>
            <a:ext cx="432078" cy="432078"/>
          </a:xfrm>
          <a:prstGeom prst="roundRect">
            <a:avLst>
              <a:gd name="adj" fmla="val 6668"/>
            </a:avLst>
          </a:prstGeom>
          <a:solidFill>
            <a:srgbClr val="EEE8DD"/>
          </a:solidFill>
        </p:spPr>
      </p:sp>
      <p:sp>
        <p:nvSpPr>
          <p:cNvPr id="21" name="Text 19"/>
          <p:cNvSpPr/>
          <p:nvPr>
            <p:custDataLst>
              <p:tags r:id="rId6"/>
            </p:custDataLst>
          </p:nvPr>
        </p:nvSpPr>
        <p:spPr>
          <a:xfrm>
            <a:off x="7887395" y="5240060"/>
            <a:ext cx="288012" cy="360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</a:t>
            </a:r>
            <a:endParaRPr lang="en-US" sz="2250" dirty="0"/>
          </a:p>
        </p:txBody>
      </p:sp>
      <p:sp>
        <p:nvSpPr>
          <p:cNvPr id="22" name="Text 20"/>
          <p:cNvSpPr/>
          <p:nvPr>
            <p:custDataLst>
              <p:tags r:id="rId7"/>
            </p:custDataLst>
          </p:nvPr>
        </p:nvSpPr>
        <p:spPr>
          <a:xfrm>
            <a:off x="8440182" y="5270698"/>
            <a:ext cx="2400895" cy="300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Admin Dashboard</a:t>
            </a:r>
            <a:endParaRPr lang="en-US" sz="2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8"/>
            </p:custDataLst>
          </p:nvPr>
        </p:nvSpPr>
        <p:spPr>
          <a:xfrm>
            <a:off x="8440420" y="5782945"/>
            <a:ext cx="5420995" cy="8813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centralized control panel for administrators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oversee all system activities, manage users, </a:t>
            </a:r>
            <a:endParaRPr lang="en-US" dirty="0">
              <a:solidFill>
                <a:srgbClr val="746558"/>
              </a:solidFill>
              <a:latin typeface="Gelasio" pitchFamily="34" charset="0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and gain insights into event performance.</a:t>
            </a:r>
            <a:endParaRPr lang="en-US" dirty="0"/>
          </a:p>
        </p:txBody>
      </p:sp>
      <p:sp>
        <p:nvSpPr>
          <p:cNvPr id="24" name="Text 0"/>
          <p:cNvSpPr/>
          <p:nvPr/>
        </p:nvSpPr>
        <p:spPr>
          <a:xfrm>
            <a:off x="-635" y="648335"/>
            <a:ext cx="14630400" cy="4800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Features (contd.):</a:t>
            </a:r>
            <a:endParaRPr lang="en-US" sz="4400" dirty="0"/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77265" y="4793615"/>
            <a:ext cx="6032500" cy="2860040"/>
          </a:xfrm>
          <a:prstGeom prst="rect">
            <a:avLst/>
          </a:prstGeom>
        </p:spPr>
      </p:pic>
      <p:pic>
        <p:nvPicPr>
          <p:cNvPr id="26" name="Picture 25" descr="Screenshot 2026-01-18 19123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2209" r="4258" b="12275"/>
          <a:stretch>
            <a:fillRect/>
          </a:stretch>
        </p:blipFill>
        <p:spPr>
          <a:xfrm>
            <a:off x="8243570" y="1816735"/>
            <a:ext cx="5720080" cy="2849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64565" y="1330325"/>
            <a:ext cx="7327265" cy="10979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Future Enhancements:</a:t>
            </a:r>
            <a:endParaRPr lang="en-US" sz="48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86485" y="3163570"/>
            <a:ext cx="6607810" cy="3613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3200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Online payment integration</a:t>
            </a:r>
            <a:endParaRPr lang="en-US" altLang="en-US" sz="3200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3200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Email and SMS notifications</a:t>
            </a:r>
            <a:endParaRPr lang="en-US" altLang="en-US" sz="3200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3200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Mobile application</a:t>
            </a:r>
            <a:endParaRPr lang="en-US" altLang="en-US" sz="3200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3200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Upgraded Design</a:t>
            </a:r>
            <a:endParaRPr lang="en-US" altLang="en-US" sz="3200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3200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Improved Securtity</a:t>
            </a:r>
            <a:endParaRPr lang="en-US" altLang="en-US" sz="3200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q"/>
            </a:pPr>
            <a:r>
              <a:rPr lang="en-US" altLang="en-US" sz="3200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Advanced analytics dashboard</a:t>
            </a:r>
            <a:endParaRPr lang="en-US" altLang="en-US" sz="3200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pic>
        <p:nvPicPr>
          <p:cNvPr id="6" name="Picture 5" descr="C:/Users/pc/Desktop/6-2.png6-2"/>
          <p:cNvPicPr/>
          <p:nvPr/>
        </p:nvPicPr>
        <p:blipFill>
          <a:blip r:embed="rId1"/>
          <a:srcRect l="5298" r="5298"/>
          <a:stretch>
            <a:fillRect/>
          </a:stretch>
        </p:blipFill>
        <p:spPr>
          <a:xfrm>
            <a:off x="7832090" y="2702560"/>
            <a:ext cx="6407785" cy="40747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-635" y="885190"/>
            <a:ext cx="14631035" cy="682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4D3D45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Conclusion:</a:t>
            </a:r>
            <a:endParaRPr lang="en-US" sz="5400" b="1" dirty="0">
              <a:solidFill>
                <a:srgbClr val="4D3D45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029970" y="2796540"/>
            <a:ext cx="7962900" cy="3750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altLang="en-US" sz="4000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The Event Management System successfully automates event handling.</a:t>
            </a:r>
            <a:endParaRPr lang="en-US" altLang="en-US" sz="4000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4000" dirty="0">
                <a:solidFill>
                  <a:srgbClr val="725E69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  <a:sym typeface="+mn-ea"/>
              </a:rPr>
              <a:t>It demonstrates effective use of DBMS concepts and web technologies.</a:t>
            </a:r>
            <a:endParaRPr lang="en-US" altLang="en-US" sz="4000" dirty="0">
              <a:solidFill>
                <a:srgbClr val="725E69"/>
              </a:solidFill>
              <a:latin typeface="Gelasio Semi Bold" pitchFamily="34" charset="0"/>
              <a:ea typeface="Gelasio Semi Bold" pitchFamily="34" charset="-122"/>
              <a:cs typeface="Gelasio Semi Bold" pitchFamily="34" charset="-120"/>
              <a:sym typeface="+mn-ea"/>
            </a:endParaRPr>
          </a:p>
        </p:txBody>
      </p:sp>
      <p:pic>
        <p:nvPicPr>
          <p:cNvPr id="27" name="Picture 26"/>
          <p:cNvPicPr/>
          <p:nvPr/>
        </p:nvPicPr>
        <p:blipFill>
          <a:blip r:embed="rId1"/>
          <a:stretch>
            <a:fillRect/>
          </a:stretch>
        </p:blipFill>
        <p:spPr>
          <a:xfrm>
            <a:off x="8992870" y="2412365"/>
            <a:ext cx="5231765" cy="4625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6"/>
            <p:custDataLst>
              <p:tags r:id="rId1"/>
            </p:custDataLst>
          </p:nvPr>
        </p:nvSpPr>
        <p:spPr>
          <a:xfrm>
            <a:off x="1422781" y="3161538"/>
            <a:ext cx="6470142" cy="2674620"/>
          </a:xfrm>
        </p:spPr>
        <p:txBody>
          <a:bodyPr/>
          <a:lstStyle/>
          <a:p>
            <a:r>
              <a:rPr lang="en-US" b="1"/>
              <a:t>Thank You</a:t>
            </a:r>
            <a:endParaRPr lang="en-US" b="1"/>
          </a:p>
        </p:txBody>
      </p:sp>
      <p:sp>
        <p:nvSpPr>
          <p:cNvPr id="6" name="Oval 5"/>
          <p:cNvSpPr/>
          <p:nvPr/>
        </p:nvSpPr>
        <p:spPr>
          <a:xfrm>
            <a:off x="-954405" y="-867410"/>
            <a:ext cx="4210685" cy="4029075"/>
          </a:xfrm>
          <a:prstGeom prst="ellipse">
            <a:avLst/>
          </a:prstGeom>
          <a:solidFill>
            <a:srgbClr val="9FC59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10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10"/>
</p:tagLst>
</file>

<file path=ppt/tags/tag82.xml><?xml version="1.0" encoding="utf-8"?>
<p:tagLst xmlns:p="http://schemas.openxmlformats.org/presentationml/2006/main">
  <p:tag name="KSO_WM_TEMPLATE_THUMBS_INDEX" val="1、11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0"/>
</p:tagLst>
</file>

<file path=ppt/tags/tag8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4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85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86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87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88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89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0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1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2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3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4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5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6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7.xml><?xml version="1.0" encoding="utf-8"?>
<p:tagLst xmlns:p="http://schemas.openxmlformats.org/presentationml/2006/main">
  <p:tag name="KSO_WM_DIAGRAM_VIRTUALLY_FRAME" val="{&quot;height&quot;:332.6031496062992,&quot;left&quot;:481.93125984251964,&quot;top&quot;:258.6093700787402,&quot;width&quot;:618.3374803149607}"/>
</p:tagLst>
</file>

<file path=ppt/tags/tag98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99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0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1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2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3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4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5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6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7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8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09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10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11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12.xml><?xml version="1.0" encoding="utf-8"?>
<p:tagLst xmlns:p="http://schemas.openxmlformats.org/presentationml/2006/main">
  <p:tag name="KSO_WM_DIAGRAM_VIRTUALLY_FRAME" val="{&quot;height&quot;:359.44685039370074,&quot;left&quot;:62.05,&quot;top&quot;:213.22503937007872,&quot;width&quot;:1027.4468503937007}"/>
</p:tagLst>
</file>

<file path=ppt/tags/tag113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14.xml><?xml version="1.0" encoding="utf-8"?>
<p:tagLst xmlns:p="http://schemas.openxmlformats.org/presentationml/2006/main">
  <p:tag name="KSO_WM_DIAGRAM_VIRTUALLY_FRAME" val="{&quot;height&quot;:360.37496062992125,&quot;left&quot;:62.05,&quot;top&quot;:213.22503937007872,&quot;width&quot;:1027.4468503937007}"/>
</p:tagLst>
</file>

<file path=ppt/tags/tag115.xml><?xml version="1.0" encoding="utf-8"?>
<p:tagLst xmlns:p="http://schemas.openxmlformats.org/presentationml/2006/main">
  <p:tag name="KSO_WM_DIAGRAM_VIRTUALLY_FRAME" val="{&quot;height&quot;:361.76559055118116,&quot;left&quot;:54.47811023622046,&quot;top&quot;:220.83440944881886,&quot;width&quot;:521.5218897637795}"/>
</p:tagLst>
</file>

<file path=ppt/tags/tag116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17.xml><?xml version="1.0" encoding="utf-8"?>
<p:tagLst xmlns:p="http://schemas.openxmlformats.org/presentationml/2006/main">
  <p:tag name="KSO_WM_DIAGRAM_VIRTUALLY_FRAME" val="{&quot;height&quot;:361.76559055118116,&quot;left&quot;:54.47811023622046,&quot;top&quot;:220.83440944881886,&quot;width&quot;:521.5218897637795}"/>
</p:tagLst>
</file>

<file path=ppt/tags/tag118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19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20.xml><?xml version="1.0" encoding="utf-8"?>
<p:tagLst xmlns:p="http://schemas.openxmlformats.org/presentationml/2006/main">
  <p:tag name="KSO_WM_DIAGRAM_VIRTUALLY_FRAME" val="{&quot;height&quot;:361.76559055118116,&quot;left&quot;:54.47811023622046,&quot;top&quot;:220.83440944881886,&quot;width&quot;:521.5218897637795}"/>
</p:tagLst>
</file>

<file path=ppt/tags/tag121.xml><?xml version="1.0" encoding="utf-8"?>
<p:tagLst xmlns:p="http://schemas.openxmlformats.org/presentationml/2006/main">
  <p:tag name="KSO_WM_DIAGRAM_VIRTUALLY_FRAME" val="{&quot;height&quot;:361.76559055118116,&quot;left&quot;:54.47811023622046,&quot;top&quot;:220.83440944881886,&quot;width&quot;:521.5218897637795}"/>
</p:tagLst>
</file>

<file path=ppt/tags/tag122.xml><?xml version="1.0" encoding="utf-8"?>
<p:tagLst xmlns:p="http://schemas.openxmlformats.org/presentationml/2006/main">
  <p:tag name="KSO_WM_DIAGRAM_VIRTUALLY_FRAME" val="{&quot;height&quot;:361.76559055118116,&quot;left&quot;:54.47811023622046,&quot;top&quot;:220.83440944881886,&quot;width&quot;:521.5218897637795}"/>
</p:tagLst>
</file>

<file path=ppt/tags/tag123.xml><?xml version="1.0" encoding="utf-8"?>
<p:tagLst xmlns:p="http://schemas.openxmlformats.org/presentationml/2006/main">
  <p:tag name="KSO_WM_DIAGRAM_VIRTUALLY_FRAME" val="{&quot;height&quot;:361.76559055118116,&quot;left&quot;:54.47811023622046,&quot;top&quot;:220.83440944881886,&quot;width&quot;:521.5218897637795}"/>
</p:tagLst>
</file>

<file path=ppt/tags/tag124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25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26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27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28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29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30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31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32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33.xml><?xml version="1.0" encoding="utf-8"?>
<p:tagLst xmlns:p="http://schemas.openxmlformats.org/presentationml/2006/main">
  <p:tag name="KSO_WM_DIAGRAM_VIRTUALLY_FRAME" val="{&quot;height&quot;:405.65622047244096,&quot;left&quot;:110.1,&quot;top&quot;:112.74377952755904,&quot;width&quot;:931.35}"/>
</p:tagLst>
</file>

<file path=ppt/tags/tag134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35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36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37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38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39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40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41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42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43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44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45.xml><?xml version="1.0" encoding="utf-8"?>
<p:tagLst xmlns:p="http://schemas.openxmlformats.org/presentationml/2006/main">
  <p:tag name="KSO_WM_DIAGRAM_VIRTUALLY_FRAME" val="{&quot;height&quot;:456.87811023622055,&quot;left&quot;:60.48748031496062,&quot;top&quot;:175.0218897637795,&quot;width&quot;:1062.2125196850393}"/>
</p:tagLst>
</file>

<file path=ppt/tags/tag146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47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48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49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50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51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52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53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54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55.xml><?xml version="1.0" encoding="utf-8"?>
<p:tagLst xmlns:p="http://schemas.openxmlformats.org/presentationml/2006/main">
  <p:tag name="KSO_WM_DIAGRAM_VIRTUALLY_FRAME" val="{&quot;height&quot;:463.35307086614176,&quot;left&quot;:60.48748031496062,&quot;top&quot;:143.05,&quot;width&quot;:1062.2125196850393}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10_11*a*1"/>
  <p:tag name="KSO_WM_TEMPLATE_CATEGORY" val="custom"/>
  <p:tag name="KSO_WM_TEMPLATE_INDEX" val="20233410"/>
  <p:tag name="KSO_WM_UNIT_LAYERLEVEL" val="1"/>
  <p:tag name="KSO_WM_TAG_VERSION" val="3.0"/>
  <p:tag name="KSO_WM_BEAUTIFY_FLAG" val="#wm#"/>
  <p:tag name="KSO_WM_UNIT_PRESET_TEXT" val="THANK YOU"/>
</p:tagLst>
</file>

<file path=ppt/tags/tag1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5&quot;,&quot;top&quot;:&quot;107.8&quot;,&quot;width&quot;:&quot;475.4&quot;,&quot;height&quot;:&quot;304.75&quot;}"/>
  <p:tag name="KSO_WM_SPECIAL_SOURCE" val="bdnull"/>
  <p:tag name="KSO_WM_SLIDE_ID" val="custom20233410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10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12">
      <a:dk1>
        <a:srgbClr val="000000"/>
      </a:dk1>
      <a:lt1>
        <a:srgbClr val="FFFFFF"/>
      </a:lt1>
      <a:dk2>
        <a:srgbClr val="6C5500"/>
      </a:dk2>
      <a:lt2>
        <a:srgbClr val="FFF7DA"/>
      </a:lt2>
      <a:accent1>
        <a:srgbClr val="62A555"/>
      </a:accent1>
      <a:accent2>
        <a:srgbClr val="FFD948"/>
      </a:accent2>
      <a:accent3>
        <a:srgbClr val="A1B433"/>
      </a:accent3>
      <a:accent4>
        <a:srgbClr val="C0BC23"/>
      </a:accent4>
      <a:accent5>
        <a:srgbClr val="E0C312"/>
      </a:accent5>
      <a:accent6>
        <a:srgbClr val="FFCB01"/>
      </a:accent6>
      <a:hlink>
        <a:srgbClr val="0563C1"/>
      </a:hlink>
      <a:folHlink>
        <a:srgbClr val="954D72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5018</Words>
  <Application>WPS Presentation</Application>
  <PresentationFormat>On-screen Show (16:9)</PresentationFormat>
  <Paragraphs>223</Paragraphs>
  <Slides>18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SimSun</vt:lpstr>
      <vt:lpstr>Wingdings</vt:lpstr>
      <vt:lpstr>Wingdings</vt:lpstr>
      <vt:lpstr>Gelasio Semi Bold</vt:lpstr>
      <vt:lpstr>Gelasio Semi Bold</vt:lpstr>
      <vt:lpstr>Gelasio Semi Bold</vt:lpstr>
      <vt:lpstr>Gelasio</vt:lpstr>
      <vt:lpstr>Gelasio</vt:lpstr>
      <vt:lpstr>Gelasio</vt:lpstr>
      <vt:lpstr>Calibri</vt:lpstr>
      <vt:lpstr>Microsoft YaHei</vt:lpstr>
      <vt:lpstr>Arial Unicode MS</vt:lpstr>
      <vt:lpstr>Mali</vt:lpstr>
      <vt:lpstr>Segoe Print</vt:lpstr>
      <vt:lpstr>Mali SemiBold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Ambreen_N_Khan</cp:lastModifiedBy>
  <cp:revision>55</cp:revision>
  <dcterms:created xsi:type="dcterms:W3CDTF">2026-01-18T16:42:00Z</dcterms:created>
  <dcterms:modified xsi:type="dcterms:W3CDTF">2026-05-25T18:17:36Z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0564DE39F96442BFB6EDE30F02B439A7_13</vt:lpwstr>
  </property>
  <property fmtid="{D5CDD505-2E9C-101B-9397-08002B2CF9AE}" pid="3" name="KSOProductBuildVer">
    <vt:lpwstr>1033-12.1.0.26372</vt:lpwstr>
  </property>
</Properties>
</file>